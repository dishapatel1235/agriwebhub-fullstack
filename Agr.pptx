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T Bluescreens Bold" charset="1" panose="02000806040000020004"/>
      <p:regular r:id="rId17"/>
    </p:embeddedFont>
    <p:embeddedFont>
      <p:font typeface="TT Bluescreens" charset="1" panose="02000508040000020004"/>
      <p:regular r:id="rId18"/>
    </p:embeddedFont>
    <p:embeddedFont>
      <p:font typeface="Noto Sans Bold" charset="1" panose="020B0802040504020204"/>
      <p:regular r:id="rId19"/>
    </p:embeddedFont>
    <p:embeddedFont>
      <p:font typeface="Noto Sans" charset="1" panose="020B050204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3.pn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jpeg" Type="http://schemas.openxmlformats.org/officeDocument/2006/relationships/image"/><Relationship Id="rId5"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sp>
        <p:nvSpPr>
          <p:cNvPr name="Freeform 2" id="2"/>
          <p:cNvSpPr/>
          <p:nvPr/>
        </p:nvSpPr>
        <p:spPr>
          <a:xfrm flipH="false" flipV="false" rot="0">
            <a:off x="9312297" y="742238"/>
            <a:ext cx="1429697" cy="1762338"/>
          </a:xfrm>
          <a:custGeom>
            <a:avLst/>
            <a:gdLst/>
            <a:ahLst/>
            <a:cxnLst/>
            <a:rect r="r" b="b" t="t" l="l"/>
            <a:pathLst>
              <a:path h="1762338" w="1429697">
                <a:moveTo>
                  <a:pt x="0" y="0"/>
                </a:moveTo>
                <a:lnTo>
                  <a:pt x="1429696" y="0"/>
                </a:lnTo>
                <a:lnTo>
                  <a:pt x="1429696" y="1762338"/>
                </a:lnTo>
                <a:lnTo>
                  <a:pt x="0" y="1762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83733" y="262345"/>
            <a:ext cx="1835062" cy="1925311"/>
          </a:xfrm>
          <a:custGeom>
            <a:avLst/>
            <a:gdLst/>
            <a:ahLst/>
            <a:cxnLst/>
            <a:rect r="r" b="b" t="t" l="l"/>
            <a:pathLst>
              <a:path h="1925311" w="1835062">
                <a:moveTo>
                  <a:pt x="0" y="0"/>
                </a:moveTo>
                <a:lnTo>
                  <a:pt x="1835062" y="0"/>
                </a:lnTo>
                <a:lnTo>
                  <a:pt x="1835062" y="1925311"/>
                </a:lnTo>
                <a:lnTo>
                  <a:pt x="0" y="1925311"/>
                </a:lnTo>
                <a:lnTo>
                  <a:pt x="0" y="0"/>
                </a:lnTo>
                <a:close/>
              </a:path>
            </a:pathLst>
          </a:custGeom>
          <a:blipFill>
            <a:blip r:embed="rId4"/>
            <a:stretch>
              <a:fillRect l="0" t="0" r="0" b="0"/>
            </a:stretch>
          </a:blipFill>
        </p:spPr>
      </p:sp>
      <p:sp>
        <p:nvSpPr>
          <p:cNvPr name="Freeform 4" id="4"/>
          <p:cNvSpPr/>
          <p:nvPr/>
        </p:nvSpPr>
        <p:spPr>
          <a:xfrm flipH="false" flipV="false" rot="0">
            <a:off x="31285" y="-32236"/>
            <a:ext cx="18256715" cy="10236592"/>
          </a:xfrm>
          <a:custGeom>
            <a:avLst/>
            <a:gdLst/>
            <a:ahLst/>
            <a:cxnLst/>
            <a:rect r="r" b="b" t="t" l="l"/>
            <a:pathLst>
              <a:path h="10236592" w="18256715">
                <a:moveTo>
                  <a:pt x="0" y="0"/>
                </a:moveTo>
                <a:lnTo>
                  <a:pt x="18256715" y="0"/>
                </a:lnTo>
                <a:lnTo>
                  <a:pt x="18256715" y="10236593"/>
                </a:lnTo>
                <a:lnTo>
                  <a:pt x="0" y="10236593"/>
                </a:lnTo>
                <a:lnTo>
                  <a:pt x="0" y="0"/>
                </a:lnTo>
                <a:close/>
              </a:path>
            </a:pathLst>
          </a:custGeom>
          <a:blipFill>
            <a:blip r:embed="rId5"/>
            <a:stretch>
              <a:fillRect l="0" t="0" r="0" b="0"/>
            </a:stretch>
          </a:blipFill>
        </p:spPr>
      </p:sp>
      <p:sp>
        <p:nvSpPr>
          <p:cNvPr name="TextBox 5" id="5"/>
          <p:cNvSpPr txBox="true"/>
          <p:nvPr/>
        </p:nvSpPr>
        <p:spPr>
          <a:xfrm rot="0">
            <a:off x="-4782819" y="-128180"/>
            <a:ext cx="13926819" cy="3419273"/>
          </a:xfrm>
          <a:prstGeom prst="rect">
            <a:avLst/>
          </a:prstGeom>
        </p:spPr>
        <p:txBody>
          <a:bodyPr anchor="t" rtlCol="false" tIns="0" lIns="0" bIns="0" rIns="0">
            <a:spAutoFit/>
          </a:bodyPr>
          <a:lstStyle/>
          <a:p>
            <a:pPr algn="r">
              <a:lnSpc>
                <a:spcPts val="27836"/>
              </a:lnSpc>
            </a:pPr>
            <a:r>
              <a:rPr lang="en-US" sz="19882" b="true">
                <a:solidFill>
                  <a:srgbClr val="124B3D"/>
                </a:solidFill>
                <a:latin typeface="TT Bluescreens Bold"/>
                <a:ea typeface="TT Bluescreens Bold"/>
                <a:cs typeface="TT Bluescreens Bold"/>
                <a:sym typeface="TT Bluescreens Bold"/>
              </a:rPr>
              <a:t>AgriWebHub</a:t>
            </a:r>
          </a:p>
        </p:txBody>
      </p:sp>
      <p:sp>
        <p:nvSpPr>
          <p:cNvPr name="TextBox 6" id="6"/>
          <p:cNvSpPr txBox="true"/>
          <p:nvPr/>
        </p:nvSpPr>
        <p:spPr>
          <a:xfrm rot="0">
            <a:off x="249329" y="2808183"/>
            <a:ext cx="10046508" cy="1336918"/>
          </a:xfrm>
          <a:prstGeom prst="rect">
            <a:avLst/>
          </a:prstGeom>
        </p:spPr>
        <p:txBody>
          <a:bodyPr anchor="t" rtlCol="false" tIns="0" lIns="0" bIns="0" rIns="0">
            <a:spAutoFit/>
          </a:bodyPr>
          <a:lstStyle/>
          <a:p>
            <a:pPr algn="r">
              <a:lnSpc>
                <a:spcPts val="10938"/>
              </a:lnSpc>
            </a:pPr>
            <a:r>
              <a:rPr lang="en-US" sz="7812">
                <a:solidFill>
                  <a:srgbClr val="262829"/>
                </a:solidFill>
                <a:latin typeface="TT Bluescreens"/>
                <a:ea typeface="TT Bluescreens"/>
                <a:cs typeface="TT Bluescreens"/>
                <a:sym typeface="TT Bluescreens"/>
              </a:rPr>
              <a:t>A BRIDGE BETWEEN FARMER AND CONSUMER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sp>
        <p:nvSpPr>
          <p:cNvPr name="Freeform 2" id="2"/>
          <p:cNvSpPr/>
          <p:nvPr/>
        </p:nvSpPr>
        <p:spPr>
          <a:xfrm flipH="false" flipV="false" rot="0">
            <a:off x="17259300" y="131173"/>
            <a:ext cx="923080" cy="968477"/>
          </a:xfrm>
          <a:custGeom>
            <a:avLst/>
            <a:gdLst/>
            <a:ahLst/>
            <a:cxnLst/>
            <a:rect r="r" b="b" t="t" l="l"/>
            <a:pathLst>
              <a:path h="968477" w="923080">
                <a:moveTo>
                  <a:pt x="0" y="0"/>
                </a:moveTo>
                <a:lnTo>
                  <a:pt x="923080" y="0"/>
                </a:lnTo>
                <a:lnTo>
                  <a:pt x="923080" y="968477"/>
                </a:lnTo>
                <a:lnTo>
                  <a:pt x="0" y="968477"/>
                </a:lnTo>
                <a:lnTo>
                  <a:pt x="0" y="0"/>
                </a:lnTo>
                <a:close/>
              </a:path>
            </a:pathLst>
          </a:custGeom>
          <a:blipFill>
            <a:blip r:embed="rId2"/>
            <a:stretch>
              <a:fillRect l="0" t="0" r="0" b="0"/>
            </a:stretch>
          </a:blipFill>
        </p:spPr>
      </p:sp>
      <p:sp>
        <p:nvSpPr>
          <p:cNvPr name="TextBox 3" id="3"/>
          <p:cNvSpPr txBox="true"/>
          <p:nvPr/>
        </p:nvSpPr>
        <p:spPr>
          <a:xfrm rot="0">
            <a:off x="-1801090" y="-161925"/>
            <a:ext cx="5659581" cy="1392748"/>
          </a:xfrm>
          <a:prstGeom prst="rect">
            <a:avLst/>
          </a:prstGeom>
        </p:spPr>
        <p:txBody>
          <a:bodyPr anchor="t" rtlCol="false" tIns="0" lIns="0" bIns="0" rIns="0">
            <a:spAutoFit/>
          </a:bodyPr>
          <a:lstStyle/>
          <a:p>
            <a:pPr algn="r">
              <a:lnSpc>
                <a:spcPts val="11312"/>
              </a:lnSpc>
            </a:pPr>
            <a:r>
              <a:rPr lang="en-US" sz="8080" b="true">
                <a:solidFill>
                  <a:srgbClr val="124B3D"/>
                </a:solidFill>
                <a:latin typeface="TT Bluescreens Bold"/>
                <a:ea typeface="TT Bluescreens Bold"/>
                <a:cs typeface="TT Bluescreens Bold"/>
                <a:sym typeface="TT Bluescreens Bold"/>
              </a:rPr>
              <a:t>AgriWebHub</a:t>
            </a:r>
          </a:p>
        </p:txBody>
      </p:sp>
      <p:sp>
        <p:nvSpPr>
          <p:cNvPr name="TextBox 4" id="4"/>
          <p:cNvSpPr txBox="true"/>
          <p:nvPr/>
        </p:nvSpPr>
        <p:spPr>
          <a:xfrm rot="0">
            <a:off x="3858490" y="265415"/>
            <a:ext cx="4644410" cy="623792"/>
          </a:xfrm>
          <a:prstGeom prst="rect">
            <a:avLst/>
          </a:prstGeom>
        </p:spPr>
        <p:txBody>
          <a:bodyPr anchor="t" rtlCol="false" tIns="0" lIns="0" bIns="0" rIns="0">
            <a:spAutoFit/>
          </a:bodyPr>
          <a:lstStyle/>
          <a:p>
            <a:pPr algn="r">
              <a:lnSpc>
                <a:spcPts val="5056"/>
              </a:lnSpc>
            </a:pPr>
            <a:r>
              <a:rPr lang="en-US" sz="3611">
                <a:solidFill>
                  <a:srgbClr val="262829"/>
                </a:solidFill>
                <a:latin typeface="TT Bluescreens"/>
                <a:ea typeface="TT Bluescreens"/>
                <a:cs typeface="TT Bluescreens"/>
                <a:sym typeface="TT Bluescreens"/>
              </a:rPr>
              <a:t>A BRIDGE BETWEEN FARMER AND CONSUMER</a:t>
            </a:r>
          </a:p>
        </p:txBody>
      </p:sp>
      <p:grpSp>
        <p:nvGrpSpPr>
          <p:cNvPr name="Group 5" id="5"/>
          <p:cNvGrpSpPr/>
          <p:nvPr/>
        </p:nvGrpSpPr>
        <p:grpSpPr>
          <a:xfrm rot="0">
            <a:off x="340744" y="2358177"/>
            <a:ext cx="17606512" cy="7561769"/>
            <a:chOff x="0" y="0"/>
            <a:chExt cx="4637106" cy="1991577"/>
          </a:xfrm>
        </p:grpSpPr>
        <p:sp>
          <p:nvSpPr>
            <p:cNvPr name="Freeform 6" id="6"/>
            <p:cNvSpPr/>
            <p:nvPr/>
          </p:nvSpPr>
          <p:spPr>
            <a:xfrm flipH="false" flipV="false" rot="0">
              <a:off x="0" y="0"/>
              <a:ext cx="4637106" cy="1991577"/>
            </a:xfrm>
            <a:custGeom>
              <a:avLst/>
              <a:gdLst/>
              <a:ahLst/>
              <a:cxnLst/>
              <a:rect r="r" b="b" t="t" l="l"/>
              <a:pathLst>
                <a:path h="1991577" w="4637106">
                  <a:moveTo>
                    <a:pt x="30341" y="0"/>
                  </a:moveTo>
                  <a:lnTo>
                    <a:pt x="4606765" y="0"/>
                  </a:lnTo>
                  <a:cubicBezTo>
                    <a:pt x="4623522" y="0"/>
                    <a:pt x="4637106" y="13584"/>
                    <a:pt x="4637106" y="30341"/>
                  </a:cubicBezTo>
                  <a:lnTo>
                    <a:pt x="4637106" y="1961236"/>
                  </a:lnTo>
                  <a:cubicBezTo>
                    <a:pt x="4637106" y="1969283"/>
                    <a:pt x="4633909" y="1977000"/>
                    <a:pt x="4628219" y="1982690"/>
                  </a:cubicBezTo>
                  <a:cubicBezTo>
                    <a:pt x="4622529" y="1988380"/>
                    <a:pt x="4614813" y="1991577"/>
                    <a:pt x="4606765" y="1991577"/>
                  </a:cubicBezTo>
                  <a:lnTo>
                    <a:pt x="30341" y="1991577"/>
                  </a:lnTo>
                  <a:cubicBezTo>
                    <a:pt x="22294" y="1991577"/>
                    <a:pt x="14577" y="1988380"/>
                    <a:pt x="8887" y="1982690"/>
                  </a:cubicBezTo>
                  <a:cubicBezTo>
                    <a:pt x="3197" y="1977000"/>
                    <a:pt x="0" y="1969283"/>
                    <a:pt x="0" y="1961236"/>
                  </a:cubicBezTo>
                  <a:lnTo>
                    <a:pt x="0" y="30341"/>
                  </a:lnTo>
                  <a:cubicBezTo>
                    <a:pt x="0" y="22294"/>
                    <a:pt x="3197" y="14577"/>
                    <a:pt x="8887" y="8887"/>
                  </a:cubicBezTo>
                  <a:cubicBezTo>
                    <a:pt x="14577" y="3197"/>
                    <a:pt x="22294" y="0"/>
                    <a:pt x="30341" y="0"/>
                  </a:cubicBezTo>
                  <a:close/>
                </a:path>
              </a:pathLst>
            </a:custGeom>
            <a:solidFill>
              <a:srgbClr val="000000">
                <a:alpha val="0"/>
              </a:srgbClr>
            </a:solidFill>
            <a:ln w="28575" cap="rnd">
              <a:solidFill>
                <a:srgbClr val="262829"/>
              </a:solidFill>
              <a:prstDash val="solid"/>
              <a:round/>
            </a:ln>
          </p:spPr>
        </p:sp>
        <p:sp>
          <p:nvSpPr>
            <p:cNvPr name="TextBox 7" id="7"/>
            <p:cNvSpPr txBox="true"/>
            <p:nvPr/>
          </p:nvSpPr>
          <p:spPr>
            <a:xfrm>
              <a:off x="0" y="-47625"/>
              <a:ext cx="4637106" cy="203920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861827" y="1230823"/>
            <a:ext cx="5098858" cy="994004"/>
            <a:chOff x="0" y="0"/>
            <a:chExt cx="1342909" cy="261795"/>
          </a:xfrm>
        </p:grpSpPr>
        <p:sp>
          <p:nvSpPr>
            <p:cNvPr name="Freeform 9" id="9"/>
            <p:cNvSpPr/>
            <p:nvPr/>
          </p:nvSpPr>
          <p:spPr>
            <a:xfrm flipH="false" flipV="false" rot="0">
              <a:off x="0" y="0"/>
              <a:ext cx="1342909" cy="261795"/>
            </a:xfrm>
            <a:custGeom>
              <a:avLst/>
              <a:gdLst/>
              <a:ahLst/>
              <a:cxnLst/>
              <a:rect r="r" b="b" t="t" l="l"/>
              <a:pathLst>
                <a:path h="261795" w="1342909">
                  <a:moveTo>
                    <a:pt x="130898" y="0"/>
                  </a:moveTo>
                  <a:lnTo>
                    <a:pt x="1212012" y="0"/>
                  </a:lnTo>
                  <a:cubicBezTo>
                    <a:pt x="1284304" y="0"/>
                    <a:pt x="1342909" y="58605"/>
                    <a:pt x="1342909" y="130898"/>
                  </a:cubicBezTo>
                  <a:lnTo>
                    <a:pt x="1342909" y="130898"/>
                  </a:lnTo>
                  <a:cubicBezTo>
                    <a:pt x="1342909" y="165614"/>
                    <a:pt x="1329118" y="198908"/>
                    <a:pt x="1304570" y="223456"/>
                  </a:cubicBezTo>
                  <a:cubicBezTo>
                    <a:pt x="1280022" y="248004"/>
                    <a:pt x="1246728" y="261795"/>
                    <a:pt x="1212012" y="261795"/>
                  </a:cubicBezTo>
                  <a:lnTo>
                    <a:pt x="130898" y="261795"/>
                  </a:lnTo>
                  <a:cubicBezTo>
                    <a:pt x="58605" y="261795"/>
                    <a:pt x="0" y="203190"/>
                    <a:pt x="0" y="130898"/>
                  </a:cubicBezTo>
                  <a:lnTo>
                    <a:pt x="0" y="130898"/>
                  </a:lnTo>
                  <a:cubicBezTo>
                    <a:pt x="0" y="58605"/>
                    <a:pt x="58605" y="0"/>
                    <a:pt x="130898" y="0"/>
                  </a:cubicBezTo>
                  <a:close/>
                </a:path>
              </a:pathLst>
            </a:custGeom>
            <a:solidFill>
              <a:srgbClr val="B1D4C7"/>
            </a:solidFill>
            <a:ln w="28575" cap="rnd">
              <a:solidFill>
                <a:srgbClr val="262829"/>
              </a:solidFill>
              <a:prstDash val="solid"/>
              <a:round/>
            </a:ln>
          </p:spPr>
        </p:sp>
        <p:sp>
          <p:nvSpPr>
            <p:cNvPr name="TextBox 10" id="10"/>
            <p:cNvSpPr txBox="true"/>
            <p:nvPr/>
          </p:nvSpPr>
          <p:spPr>
            <a:xfrm>
              <a:off x="0" y="-47625"/>
              <a:ext cx="1342909" cy="30942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8059714" y="1404093"/>
            <a:ext cx="2703084" cy="580789"/>
          </a:xfrm>
          <a:prstGeom prst="rect">
            <a:avLst/>
          </a:prstGeom>
        </p:spPr>
        <p:txBody>
          <a:bodyPr anchor="t" rtlCol="false" tIns="0" lIns="0" bIns="0" rIns="0">
            <a:spAutoFit/>
          </a:bodyPr>
          <a:lstStyle/>
          <a:p>
            <a:pPr algn="r">
              <a:lnSpc>
                <a:spcPts val="4738"/>
              </a:lnSpc>
            </a:pPr>
            <a:r>
              <a:rPr lang="en-US" sz="3384" b="true">
                <a:solidFill>
                  <a:srgbClr val="262829"/>
                </a:solidFill>
                <a:latin typeface="Noto Sans Bold"/>
                <a:ea typeface="Noto Sans Bold"/>
                <a:cs typeface="Noto Sans Bold"/>
                <a:sym typeface="Noto Sans Bold"/>
              </a:rPr>
              <a:t>Prepared by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sp>
        <p:nvSpPr>
          <p:cNvPr name="Freeform 2" id="2"/>
          <p:cNvSpPr/>
          <p:nvPr/>
        </p:nvSpPr>
        <p:spPr>
          <a:xfrm flipH="false" flipV="false" rot="0">
            <a:off x="0" y="794911"/>
            <a:ext cx="18288000" cy="10254134"/>
          </a:xfrm>
          <a:custGeom>
            <a:avLst/>
            <a:gdLst/>
            <a:ahLst/>
            <a:cxnLst/>
            <a:rect r="r" b="b" t="t" l="l"/>
            <a:pathLst>
              <a:path h="10254134" w="18288000">
                <a:moveTo>
                  <a:pt x="0" y="0"/>
                </a:moveTo>
                <a:lnTo>
                  <a:pt x="18288000" y="0"/>
                </a:lnTo>
                <a:lnTo>
                  <a:pt x="18288000" y="10254135"/>
                </a:lnTo>
                <a:lnTo>
                  <a:pt x="0" y="10254135"/>
                </a:lnTo>
                <a:lnTo>
                  <a:pt x="0" y="0"/>
                </a:lnTo>
                <a:close/>
              </a:path>
            </a:pathLst>
          </a:custGeom>
          <a:blipFill>
            <a:blip r:embed="rId2">
              <a:alphaModFix amt="63000"/>
            </a:blip>
            <a:stretch>
              <a:fillRect l="0" t="0" r="0" b="0"/>
            </a:stretch>
          </a:blipFill>
        </p:spPr>
      </p:sp>
      <p:grpSp>
        <p:nvGrpSpPr>
          <p:cNvPr name="Group 3" id="3"/>
          <p:cNvGrpSpPr/>
          <p:nvPr/>
        </p:nvGrpSpPr>
        <p:grpSpPr>
          <a:xfrm rot="0">
            <a:off x="-708327" y="-83504"/>
            <a:ext cx="19877457" cy="877432"/>
            <a:chOff x="0" y="0"/>
            <a:chExt cx="5235215" cy="231093"/>
          </a:xfrm>
        </p:grpSpPr>
        <p:sp>
          <p:nvSpPr>
            <p:cNvPr name="Freeform 4" id="4"/>
            <p:cNvSpPr/>
            <p:nvPr/>
          </p:nvSpPr>
          <p:spPr>
            <a:xfrm flipH="false" flipV="false" rot="0">
              <a:off x="0" y="0"/>
              <a:ext cx="5235215" cy="231093"/>
            </a:xfrm>
            <a:custGeom>
              <a:avLst/>
              <a:gdLst/>
              <a:ahLst/>
              <a:cxnLst/>
              <a:rect r="r" b="b" t="t" l="l"/>
              <a:pathLst>
                <a:path h="231093" w="5235215">
                  <a:moveTo>
                    <a:pt x="36222" y="0"/>
                  </a:moveTo>
                  <a:lnTo>
                    <a:pt x="5198993" y="0"/>
                  </a:lnTo>
                  <a:cubicBezTo>
                    <a:pt x="5208600" y="0"/>
                    <a:pt x="5217813" y="3816"/>
                    <a:pt x="5224606" y="10609"/>
                  </a:cubicBezTo>
                  <a:cubicBezTo>
                    <a:pt x="5231399" y="17402"/>
                    <a:pt x="5235215" y="26615"/>
                    <a:pt x="5235215" y="36222"/>
                  </a:cubicBezTo>
                  <a:lnTo>
                    <a:pt x="5235215" y="194871"/>
                  </a:lnTo>
                  <a:cubicBezTo>
                    <a:pt x="5235215" y="204478"/>
                    <a:pt x="5231399" y="213691"/>
                    <a:pt x="5224606" y="220484"/>
                  </a:cubicBezTo>
                  <a:cubicBezTo>
                    <a:pt x="5217813" y="227277"/>
                    <a:pt x="5208600" y="231093"/>
                    <a:pt x="5198993" y="231093"/>
                  </a:cubicBezTo>
                  <a:lnTo>
                    <a:pt x="36222" y="231093"/>
                  </a:lnTo>
                  <a:cubicBezTo>
                    <a:pt x="26615" y="231093"/>
                    <a:pt x="17402" y="227277"/>
                    <a:pt x="10609" y="220484"/>
                  </a:cubicBezTo>
                  <a:cubicBezTo>
                    <a:pt x="3816" y="213691"/>
                    <a:pt x="0" y="204478"/>
                    <a:pt x="0" y="194871"/>
                  </a:cubicBezTo>
                  <a:lnTo>
                    <a:pt x="0" y="36222"/>
                  </a:lnTo>
                  <a:cubicBezTo>
                    <a:pt x="0" y="26615"/>
                    <a:pt x="3816" y="17402"/>
                    <a:pt x="10609" y="10609"/>
                  </a:cubicBezTo>
                  <a:cubicBezTo>
                    <a:pt x="17402" y="3816"/>
                    <a:pt x="26615" y="0"/>
                    <a:pt x="36222" y="0"/>
                  </a:cubicBezTo>
                  <a:close/>
                </a:path>
              </a:pathLst>
            </a:custGeom>
            <a:solidFill>
              <a:srgbClr val="B1D4C7"/>
            </a:solidFill>
            <a:ln w="28575" cap="rnd">
              <a:solidFill>
                <a:srgbClr val="262829"/>
              </a:solidFill>
              <a:prstDash val="solid"/>
              <a:round/>
            </a:ln>
          </p:spPr>
        </p:sp>
        <p:sp>
          <p:nvSpPr>
            <p:cNvPr name="TextBox 5" id="5"/>
            <p:cNvSpPr txBox="true"/>
            <p:nvPr/>
          </p:nvSpPr>
          <p:spPr>
            <a:xfrm>
              <a:off x="0" y="-47625"/>
              <a:ext cx="5235215" cy="2787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932853" y="132533"/>
            <a:ext cx="4422295" cy="517590"/>
            <a:chOff x="0" y="0"/>
            <a:chExt cx="1164720" cy="136320"/>
          </a:xfrm>
        </p:grpSpPr>
        <p:sp>
          <p:nvSpPr>
            <p:cNvPr name="Freeform 7" id="7"/>
            <p:cNvSpPr/>
            <p:nvPr/>
          </p:nvSpPr>
          <p:spPr>
            <a:xfrm flipH="false" flipV="false" rot="0">
              <a:off x="0" y="0"/>
              <a:ext cx="1164720" cy="136320"/>
            </a:xfrm>
            <a:custGeom>
              <a:avLst/>
              <a:gdLst/>
              <a:ahLst/>
              <a:cxnLst/>
              <a:rect r="r" b="b" t="t" l="l"/>
              <a:pathLst>
                <a:path h="136320" w="1164720">
                  <a:moveTo>
                    <a:pt x="68160" y="0"/>
                  </a:moveTo>
                  <a:lnTo>
                    <a:pt x="1096560" y="0"/>
                  </a:lnTo>
                  <a:cubicBezTo>
                    <a:pt x="1134203" y="0"/>
                    <a:pt x="1164720" y="30516"/>
                    <a:pt x="1164720" y="68160"/>
                  </a:cubicBezTo>
                  <a:lnTo>
                    <a:pt x="1164720" y="68160"/>
                  </a:lnTo>
                  <a:cubicBezTo>
                    <a:pt x="1164720" y="105804"/>
                    <a:pt x="1134203" y="136320"/>
                    <a:pt x="1096560" y="136320"/>
                  </a:cubicBezTo>
                  <a:lnTo>
                    <a:pt x="68160" y="136320"/>
                  </a:lnTo>
                  <a:cubicBezTo>
                    <a:pt x="30516" y="136320"/>
                    <a:pt x="0" y="105804"/>
                    <a:pt x="0" y="68160"/>
                  </a:cubicBezTo>
                  <a:lnTo>
                    <a:pt x="0" y="68160"/>
                  </a:lnTo>
                  <a:cubicBezTo>
                    <a:pt x="0" y="30516"/>
                    <a:pt x="30516" y="0"/>
                    <a:pt x="68160" y="0"/>
                  </a:cubicBezTo>
                  <a:close/>
                </a:path>
              </a:pathLst>
            </a:custGeom>
            <a:solidFill>
              <a:srgbClr val="F0F4D4"/>
            </a:solidFill>
            <a:ln w="28575" cap="rnd">
              <a:solidFill>
                <a:srgbClr val="262829"/>
              </a:solidFill>
              <a:prstDash val="solid"/>
              <a:round/>
            </a:ln>
          </p:spPr>
        </p:sp>
        <p:sp>
          <p:nvSpPr>
            <p:cNvPr name="TextBox 8" id="8"/>
            <p:cNvSpPr txBox="true"/>
            <p:nvPr/>
          </p:nvSpPr>
          <p:spPr>
            <a:xfrm>
              <a:off x="0" y="-47625"/>
              <a:ext cx="1164720" cy="18394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70407" y="1537713"/>
            <a:ext cx="9734362" cy="8058762"/>
            <a:chOff x="0" y="0"/>
            <a:chExt cx="2563783" cy="2122472"/>
          </a:xfrm>
        </p:grpSpPr>
        <p:sp>
          <p:nvSpPr>
            <p:cNvPr name="Freeform 10" id="10"/>
            <p:cNvSpPr/>
            <p:nvPr/>
          </p:nvSpPr>
          <p:spPr>
            <a:xfrm flipH="false" flipV="false" rot="0">
              <a:off x="0" y="0"/>
              <a:ext cx="2563782" cy="2122472"/>
            </a:xfrm>
            <a:custGeom>
              <a:avLst/>
              <a:gdLst/>
              <a:ahLst/>
              <a:cxnLst/>
              <a:rect r="r" b="b" t="t" l="l"/>
              <a:pathLst>
                <a:path h="2122472" w="2563782">
                  <a:moveTo>
                    <a:pt x="46924" y="0"/>
                  </a:moveTo>
                  <a:lnTo>
                    <a:pt x="2516859" y="0"/>
                  </a:lnTo>
                  <a:cubicBezTo>
                    <a:pt x="2542774" y="0"/>
                    <a:pt x="2563782" y="21009"/>
                    <a:pt x="2563782" y="46924"/>
                  </a:cubicBezTo>
                  <a:lnTo>
                    <a:pt x="2563782" y="2075548"/>
                  </a:lnTo>
                  <a:cubicBezTo>
                    <a:pt x="2563782" y="2101464"/>
                    <a:pt x="2542774" y="2122472"/>
                    <a:pt x="2516859" y="2122472"/>
                  </a:cubicBezTo>
                  <a:lnTo>
                    <a:pt x="46924" y="2122472"/>
                  </a:lnTo>
                  <a:cubicBezTo>
                    <a:pt x="21009" y="2122472"/>
                    <a:pt x="0" y="2101464"/>
                    <a:pt x="0" y="2075548"/>
                  </a:cubicBezTo>
                  <a:lnTo>
                    <a:pt x="0" y="46924"/>
                  </a:lnTo>
                  <a:cubicBezTo>
                    <a:pt x="0" y="21009"/>
                    <a:pt x="21009" y="0"/>
                    <a:pt x="46924" y="0"/>
                  </a:cubicBezTo>
                  <a:close/>
                </a:path>
              </a:pathLst>
            </a:custGeom>
            <a:solidFill>
              <a:srgbClr val="FBFFE9"/>
            </a:solidFill>
            <a:ln w="28575" cap="rnd">
              <a:solidFill>
                <a:srgbClr val="262829"/>
              </a:solidFill>
              <a:prstDash val="solid"/>
              <a:round/>
            </a:ln>
          </p:spPr>
        </p:sp>
        <p:sp>
          <p:nvSpPr>
            <p:cNvPr name="TextBox 11" id="11"/>
            <p:cNvSpPr txBox="true"/>
            <p:nvPr/>
          </p:nvSpPr>
          <p:spPr>
            <a:xfrm>
              <a:off x="0" y="-47625"/>
              <a:ext cx="2563783" cy="217009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362421" y="1520145"/>
            <a:ext cx="1041084" cy="1016358"/>
          </a:xfrm>
          <a:custGeom>
            <a:avLst/>
            <a:gdLst/>
            <a:ahLst/>
            <a:cxnLst/>
            <a:rect r="r" b="b" t="t" l="l"/>
            <a:pathLst>
              <a:path h="1016358" w="1041084">
                <a:moveTo>
                  <a:pt x="0" y="0"/>
                </a:moveTo>
                <a:lnTo>
                  <a:pt x="1041084" y="0"/>
                </a:lnTo>
                <a:lnTo>
                  <a:pt x="1041084" y="1016358"/>
                </a:lnTo>
                <a:lnTo>
                  <a:pt x="0" y="10163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true" flipV="false" rot="0">
            <a:off x="9256556" y="8833392"/>
            <a:ext cx="1041084" cy="1016358"/>
          </a:xfrm>
          <a:custGeom>
            <a:avLst/>
            <a:gdLst/>
            <a:ahLst/>
            <a:cxnLst/>
            <a:rect r="r" b="b" t="t" l="l"/>
            <a:pathLst>
              <a:path h="1016358" w="1041084">
                <a:moveTo>
                  <a:pt x="1041084" y="0"/>
                </a:moveTo>
                <a:lnTo>
                  <a:pt x="0" y="0"/>
                </a:lnTo>
                <a:lnTo>
                  <a:pt x="0" y="1016359"/>
                </a:lnTo>
                <a:lnTo>
                  <a:pt x="1041084" y="1016359"/>
                </a:lnTo>
                <a:lnTo>
                  <a:pt x="104108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7032010" y="165028"/>
            <a:ext cx="1198840" cy="1257799"/>
          </a:xfrm>
          <a:custGeom>
            <a:avLst/>
            <a:gdLst/>
            <a:ahLst/>
            <a:cxnLst/>
            <a:rect r="r" b="b" t="t" l="l"/>
            <a:pathLst>
              <a:path h="1257799" w="1198840">
                <a:moveTo>
                  <a:pt x="0" y="0"/>
                </a:moveTo>
                <a:lnTo>
                  <a:pt x="1198840" y="0"/>
                </a:lnTo>
                <a:lnTo>
                  <a:pt x="1198840" y="1257800"/>
                </a:lnTo>
                <a:lnTo>
                  <a:pt x="0" y="1257800"/>
                </a:lnTo>
                <a:lnTo>
                  <a:pt x="0" y="0"/>
                </a:lnTo>
                <a:close/>
              </a:path>
            </a:pathLst>
          </a:custGeom>
          <a:blipFill>
            <a:blip r:embed="rId5"/>
            <a:stretch>
              <a:fillRect l="0" t="0" r="0" b="0"/>
            </a:stretch>
          </a:blipFill>
        </p:spPr>
      </p:sp>
      <p:sp>
        <p:nvSpPr>
          <p:cNvPr name="TextBox 15" id="15"/>
          <p:cNvSpPr txBox="true"/>
          <p:nvPr/>
        </p:nvSpPr>
        <p:spPr>
          <a:xfrm rot="0">
            <a:off x="1450792" y="3376349"/>
            <a:ext cx="8373593" cy="5942881"/>
          </a:xfrm>
          <a:prstGeom prst="rect">
            <a:avLst/>
          </a:prstGeom>
        </p:spPr>
        <p:txBody>
          <a:bodyPr anchor="t" rtlCol="false" tIns="0" lIns="0" bIns="0" rIns="0">
            <a:spAutoFit/>
          </a:bodyPr>
          <a:lstStyle/>
          <a:p>
            <a:pPr algn="ctr">
              <a:lnSpc>
                <a:spcPts val="4790"/>
              </a:lnSpc>
            </a:pPr>
            <a:r>
              <a:rPr lang="en-US" sz="2737" b="true">
                <a:solidFill>
                  <a:srgbClr val="262829"/>
                </a:solidFill>
                <a:latin typeface="Noto Sans Bold"/>
                <a:ea typeface="Noto Sans Bold"/>
                <a:cs typeface="Noto Sans Bold"/>
                <a:sym typeface="Noto Sans Bold"/>
              </a:rPr>
              <a:t>AgriWebHub is an easy-to-use web application that provides important information about farmers and consumers in agriculture. The platform allows both farmers and consumers to create profiles, so users can search for and access details about each other. This helps users make informed decisions about agricultural products and manually reach out to farmers or consumers based on their profiles.</a:t>
            </a:r>
          </a:p>
        </p:txBody>
      </p:sp>
      <p:sp>
        <p:nvSpPr>
          <p:cNvPr name="TextBox 16" id="16"/>
          <p:cNvSpPr txBox="true"/>
          <p:nvPr/>
        </p:nvSpPr>
        <p:spPr>
          <a:xfrm rot="0">
            <a:off x="10668560" y="1782472"/>
            <a:ext cx="6532704" cy="2537018"/>
          </a:xfrm>
          <a:prstGeom prst="rect">
            <a:avLst/>
          </a:prstGeom>
        </p:spPr>
        <p:txBody>
          <a:bodyPr anchor="t" rtlCol="false" tIns="0" lIns="0" bIns="0" rIns="0">
            <a:spAutoFit/>
          </a:bodyPr>
          <a:lstStyle/>
          <a:p>
            <a:pPr algn="r">
              <a:lnSpc>
                <a:spcPts val="20690"/>
              </a:lnSpc>
            </a:pPr>
            <a:r>
              <a:rPr lang="en-US" sz="14778" b="true">
                <a:solidFill>
                  <a:srgbClr val="124B3D"/>
                </a:solidFill>
                <a:latin typeface="TT Bluescreens Bold"/>
                <a:ea typeface="TT Bluescreens Bold"/>
                <a:cs typeface="TT Bluescreens Bold"/>
                <a:sym typeface="TT Bluescreens Bold"/>
              </a:rPr>
              <a:t>Introduction</a:t>
            </a:r>
          </a:p>
        </p:txBody>
      </p:sp>
      <p:sp>
        <p:nvSpPr>
          <p:cNvPr name="TextBox 17" id="17"/>
          <p:cNvSpPr txBox="true"/>
          <p:nvPr/>
        </p:nvSpPr>
        <p:spPr>
          <a:xfrm rot="0">
            <a:off x="8510902" y="158462"/>
            <a:ext cx="1266196" cy="388207"/>
          </a:xfrm>
          <a:prstGeom prst="rect">
            <a:avLst/>
          </a:prstGeom>
        </p:spPr>
        <p:txBody>
          <a:bodyPr anchor="t" rtlCol="false" tIns="0" lIns="0" bIns="0" rIns="0">
            <a:spAutoFit/>
          </a:bodyPr>
          <a:lstStyle/>
          <a:p>
            <a:pPr algn="just">
              <a:lnSpc>
                <a:spcPts val="3277"/>
              </a:lnSpc>
            </a:pPr>
            <a:r>
              <a:rPr lang="en-US" sz="2341">
                <a:solidFill>
                  <a:srgbClr val="262829"/>
                </a:solidFill>
                <a:latin typeface="Noto Sans"/>
                <a:ea typeface="Noto Sans"/>
                <a:cs typeface="Noto Sans"/>
                <a:sym typeface="Noto Sans"/>
              </a:rPr>
              <a:t>Page 01</a:t>
            </a:r>
          </a:p>
        </p:txBody>
      </p:sp>
      <p:sp>
        <p:nvSpPr>
          <p:cNvPr name="TextBox 18" id="18"/>
          <p:cNvSpPr txBox="true"/>
          <p:nvPr/>
        </p:nvSpPr>
        <p:spPr>
          <a:xfrm rot="0">
            <a:off x="-874831" y="13745"/>
            <a:ext cx="2684054" cy="669442"/>
          </a:xfrm>
          <a:prstGeom prst="rect">
            <a:avLst/>
          </a:prstGeom>
        </p:spPr>
        <p:txBody>
          <a:bodyPr anchor="t" rtlCol="false" tIns="0" lIns="0" bIns="0" rIns="0">
            <a:spAutoFit/>
          </a:bodyPr>
          <a:lstStyle/>
          <a:p>
            <a:pPr algn="r">
              <a:lnSpc>
                <a:spcPts val="5364"/>
              </a:lnSpc>
            </a:pPr>
            <a:r>
              <a:rPr lang="en-US" sz="3831" b="true">
                <a:solidFill>
                  <a:srgbClr val="124B3D"/>
                </a:solidFill>
                <a:latin typeface="TT Bluescreens Bold"/>
                <a:ea typeface="TT Bluescreens Bold"/>
                <a:cs typeface="TT Bluescreens Bold"/>
                <a:sym typeface="TT Bluescreens Bold"/>
              </a:rPr>
              <a:t>AgriWebHub</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sp>
        <p:nvSpPr>
          <p:cNvPr name="Freeform 2" id="2"/>
          <p:cNvSpPr/>
          <p:nvPr/>
        </p:nvSpPr>
        <p:spPr>
          <a:xfrm flipH="false" flipV="false" rot="0">
            <a:off x="0" y="794911"/>
            <a:ext cx="18288000" cy="10254134"/>
          </a:xfrm>
          <a:custGeom>
            <a:avLst/>
            <a:gdLst/>
            <a:ahLst/>
            <a:cxnLst/>
            <a:rect r="r" b="b" t="t" l="l"/>
            <a:pathLst>
              <a:path h="10254134" w="18288000">
                <a:moveTo>
                  <a:pt x="0" y="0"/>
                </a:moveTo>
                <a:lnTo>
                  <a:pt x="18288000" y="0"/>
                </a:lnTo>
                <a:lnTo>
                  <a:pt x="18288000" y="10254135"/>
                </a:lnTo>
                <a:lnTo>
                  <a:pt x="0" y="10254135"/>
                </a:lnTo>
                <a:lnTo>
                  <a:pt x="0" y="0"/>
                </a:lnTo>
                <a:close/>
              </a:path>
            </a:pathLst>
          </a:custGeom>
          <a:blipFill>
            <a:blip r:embed="rId2">
              <a:alphaModFix amt="63000"/>
            </a:blip>
            <a:stretch>
              <a:fillRect l="0" t="0" r="0" b="0"/>
            </a:stretch>
          </a:blipFill>
        </p:spPr>
      </p:sp>
      <p:grpSp>
        <p:nvGrpSpPr>
          <p:cNvPr name="Group 3" id="3"/>
          <p:cNvGrpSpPr/>
          <p:nvPr/>
        </p:nvGrpSpPr>
        <p:grpSpPr>
          <a:xfrm rot="0">
            <a:off x="-708327" y="-83504"/>
            <a:ext cx="19877457" cy="877432"/>
            <a:chOff x="0" y="0"/>
            <a:chExt cx="5235215" cy="231093"/>
          </a:xfrm>
        </p:grpSpPr>
        <p:sp>
          <p:nvSpPr>
            <p:cNvPr name="Freeform 4" id="4"/>
            <p:cNvSpPr/>
            <p:nvPr/>
          </p:nvSpPr>
          <p:spPr>
            <a:xfrm flipH="false" flipV="false" rot="0">
              <a:off x="0" y="0"/>
              <a:ext cx="5235215" cy="231093"/>
            </a:xfrm>
            <a:custGeom>
              <a:avLst/>
              <a:gdLst/>
              <a:ahLst/>
              <a:cxnLst/>
              <a:rect r="r" b="b" t="t" l="l"/>
              <a:pathLst>
                <a:path h="231093" w="5235215">
                  <a:moveTo>
                    <a:pt x="36222" y="0"/>
                  </a:moveTo>
                  <a:lnTo>
                    <a:pt x="5198993" y="0"/>
                  </a:lnTo>
                  <a:cubicBezTo>
                    <a:pt x="5208600" y="0"/>
                    <a:pt x="5217813" y="3816"/>
                    <a:pt x="5224606" y="10609"/>
                  </a:cubicBezTo>
                  <a:cubicBezTo>
                    <a:pt x="5231399" y="17402"/>
                    <a:pt x="5235215" y="26615"/>
                    <a:pt x="5235215" y="36222"/>
                  </a:cubicBezTo>
                  <a:lnTo>
                    <a:pt x="5235215" y="194871"/>
                  </a:lnTo>
                  <a:cubicBezTo>
                    <a:pt x="5235215" y="204478"/>
                    <a:pt x="5231399" y="213691"/>
                    <a:pt x="5224606" y="220484"/>
                  </a:cubicBezTo>
                  <a:cubicBezTo>
                    <a:pt x="5217813" y="227277"/>
                    <a:pt x="5208600" y="231093"/>
                    <a:pt x="5198993" y="231093"/>
                  </a:cubicBezTo>
                  <a:lnTo>
                    <a:pt x="36222" y="231093"/>
                  </a:lnTo>
                  <a:cubicBezTo>
                    <a:pt x="26615" y="231093"/>
                    <a:pt x="17402" y="227277"/>
                    <a:pt x="10609" y="220484"/>
                  </a:cubicBezTo>
                  <a:cubicBezTo>
                    <a:pt x="3816" y="213691"/>
                    <a:pt x="0" y="204478"/>
                    <a:pt x="0" y="194871"/>
                  </a:cubicBezTo>
                  <a:lnTo>
                    <a:pt x="0" y="36222"/>
                  </a:lnTo>
                  <a:cubicBezTo>
                    <a:pt x="0" y="26615"/>
                    <a:pt x="3816" y="17402"/>
                    <a:pt x="10609" y="10609"/>
                  </a:cubicBezTo>
                  <a:cubicBezTo>
                    <a:pt x="17402" y="3816"/>
                    <a:pt x="26615" y="0"/>
                    <a:pt x="36222" y="0"/>
                  </a:cubicBezTo>
                  <a:close/>
                </a:path>
              </a:pathLst>
            </a:custGeom>
            <a:solidFill>
              <a:srgbClr val="B1D4C7"/>
            </a:solidFill>
            <a:ln w="28575" cap="rnd">
              <a:solidFill>
                <a:srgbClr val="262829"/>
              </a:solidFill>
              <a:prstDash val="solid"/>
              <a:round/>
            </a:ln>
          </p:spPr>
        </p:sp>
        <p:sp>
          <p:nvSpPr>
            <p:cNvPr name="TextBox 5" id="5"/>
            <p:cNvSpPr txBox="true"/>
            <p:nvPr/>
          </p:nvSpPr>
          <p:spPr>
            <a:xfrm>
              <a:off x="0" y="-47625"/>
              <a:ext cx="5235215" cy="2787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932853" y="132533"/>
            <a:ext cx="4422295" cy="517590"/>
            <a:chOff x="0" y="0"/>
            <a:chExt cx="1164720" cy="136320"/>
          </a:xfrm>
        </p:grpSpPr>
        <p:sp>
          <p:nvSpPr>
            <p:cNvPr name="Freeform 7" id="7"/>
            <p:cNvSpPr/>
            <p:nvPr/>
          </p:nvSpPr>
          <p:spPr>
            <a:xfrm flipH="false" flipV="false" rot="0">
              <a:off x="0" y="0"/>
              <a:ext cx="1164720" cy="136320"/>
            </a:xfrm>
            <a:custGeom>
              <a:avLst/>
              <a:gdLst/>
              <a:ahLst/>
              <a:cxnLst/>
              <a:rect r="r" b="b" t="t" l="l"/>
              <a:pathLst>
                <a:path h="136320" w="1164720">
                  <a:moveTo>
                    <a:pt x="68160" y="0"/>
                  </a:moveTo>
                  <a:lnTo>
                    <a:pt x="1096560" y="0"/>
                  </a:lnTo>
                  <a:cubicBezTo>
                    <a:pt x="1134203" y="0"/>
                    <a:pt x="1164720" y="30516"/>
                    <a:pt x="1164720" y="68160"/>
                  </a:cubicBezTo>
                  <a:lnTo>
                    <a:pt x="1164720" y="68160"/>
                  </a:lnTo>
                  <a:cubicBezTo>
                    <a:pt x="1164720" y="105804"/>
                    <a:pt x="1134203" y="136320"/>
                    <a:pt x="1096560" y="136320"/>
                  </a:cubicBezTo>
                  <a:lnTo>
                    <a:pt x="68160" y="136320"/>
                  </a:lnTo>
                  <a:cubicBezTo>
                    <a:pt x="30516" y="136320"/>
                    <a:pt x="0" y="105804"/>
                    <a:pt x="0" y="68160"/>
                  </a:cubicBezTo>
                  <a:lnTo>
                    <a:pt x="0" y="68160"/>
                  </a:lnTo>
                  <a:cubicBezTo>
                    <a:pt x="0" y="30516"/>
                    <a:pt x="30516" y="0"/>
                    <a:pt x="68160" y="0"/>
                  </a:cubicBezTo>
                  <a:close/>
                </a:path>
              </a:pathLst>
            </a:custGeom>
            <a:solidFill>
              <a:srgbClr val="F0F4D4"/>
            </a:solidFill>
            <a:ln w="28575" cap="rnd">
              <a:solidFill>
                <a:srgbClr val="262829"/>
              </a:solidFill>
              <a:prstDash val="solid"/>
              <a:round/>
            </a:ln>
          </p:spPr>
        </p:sp>
        <p:sp>
          <p:nvSpPr>
            <p:cNvPr name="TextBox 8" id="8"/>
            <p:cNvSpPr txBox="true"/>
            <p:nvPr/>
          </p:nvSpPr>
          <p:spPr>
            <a:xfrm>
              <a:off x="0" y="-47625"/>
              <a:ext cx="1164720" cy="18394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363220" y="1790989"/>
            <a:ext cx="9734362" cy="8058762"/>
            <a:chOff x="0" y="0"/>
            <a:chExt cx="2563783" cy="2122472"/>
          </a:xfrm>
        </p:grpSpPr>
        <p:sp>
          <p:nvSpPr>
            <p:cNvPr name="Freeform 10" id="10"/>
            <p:cNvSpPr/>
            <p:nvPr/>
          </p:nvSpPr>
          <p:spPr>
            <a:xfrm flipH="false" flipV="false" rot="0">
              <a:off x="0" y="0"/>
              <a:ext cx="2563782" cy="2122472"/>
            </a:xfrm>
            <a:custGeom>
              <a:avLst/>
              <a:gdLst/>
              <a:ahLst/>
              <a:cxnLst/>
              <a:rect r="r" b="b" t="t" l="l"/>
              <a:pathLst>
                <a:path h="2122472" w="2563782">
                  <a:moveTo>
                    <a:pt x="46924" y="0"/>
                  </a:moveTo>
                  <a:lnTo>
                    <a:pt x="2516859" y="0"/>
                  </a:lnTo>
                  <a:cubicBezTo>
                    <a:pt x="2542774" y="0"/>
                    <a:pt x="2563782" y="21009"/>
                    <a:pt x="2563782" y="46924"/>
                  </a:cubicBezTo>
                  <a:lnTo>
                    <a:pt x="2563782" y="2075548"/>
                  </a:lnTo>
                  <a:cubicBezTo>
                    <a:pt x="2563782" y="2101464"/>
                    <a:pt x="2542774" y="2122472"/>
                    <a:pt x="2516859" y="2122472"/>
                  </a:cubicBezTo>
                  <a:lnTo>
                    <a:pt x="46924" y="2122472"/>
                  </a:lnTo>
                  <a:cubicBezTo>
                    <a:pt x="21009" y="2122472"/>
                    <a:pt x="0" y="2101464"/>
                    <a:pt x="0" y="2075548"/>
                  </a:cubicBezTo>
                  <a:lnTo>
                    <a:pt x="0" y="46924"/>
                  </a:lnTo>
                  <a:cubicBezTo>
                    <a:pt x="0" y="21009"/>
                    <a:pt x="21009" y="0"/>
                    <a:pt x="46924" y="0"/>
                  </a:cubicBezTo>
                  <a:close/>
                </a:path>
              </a:pathLst>
            </a:custGeom>
            <a:solidFill>
              <a:srgbClr val="FBFFE9"/>
            </a:solidFill>
            <a:ln w="28575" cap="rnd">
              <a:solidFill>
                <a:srgbClr val="262829"/>
              </a:solidFill>
              <a:prstDash val="solid"/>
              <a:round/>
            </a:ln>
          </p:spPr>
        </p:sp>
        <p:sp>
          <p:nvSpPr>
            <p:cNvPr name="TextBox 11" id="11"/>
            <p:cNvSpPr txBox="true"/>
            <p:nvPr/>
          </p:nvSpPr>
          <p:spPr>
            <a:xfrm>
              <a:off x="0" y="-47625"/>
              <a:ext cx="2563783" cy="217009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3322136" y="1028700"/>
            <a:ext cx="1041084" cy="1016358"/>
          </a:xfrm>
          <a:custGeom>
            <a:avLst/>
            <a:gdLst/>
            <a:ahLst/>
            <a:cxnLst/>
            <a:rect r="r" b="b" t="t" l="l"/>
            <a:pathLst>
              <a:path h="1016358" w="1041084">
                <a:moveTo>
                  <a:pt x="0" y="0"/>
                </a:moveTo>
                <a:lnTo>
                  <a:pt x="1041084" y="0"/>
                </a:lnTo>
                <a:lnTo>
                  <a:pt x="1041084" y="1016358"/>
                </a:lnTo>
                <a:lnTo>
                  <a:pt x="0" y="10163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true" flipV="false" rot="0">
            <a:off x="13730198" y="8750121"/>
            <a:ext cx="1041084" cy="1016358"/>
          </a:xfrm>
          <a:custGeom>
            <a:avLst/>
            <a:gdLst/>
            <a:ahLst/>
            <a:cxnLst/>
            <a:rect r="r" b="b" t="t" l="l"/>
            <a:pathLst>
              <a:path h="1016358" w="1041084">
                <a:moveTo>
                  <a:pt x="1041084" y="0"/>
                </a:moveTo>
                <a:lnTo>
                  <a:pt x="0" y="0"/>
                </a:lnTo>
                <a:lnTo>
                  <a:pt x="0" y="1016358"/>
                </a:lnTo>
                <a:lnTo>
                  <a:pt x="1041084" y="1016358"/>
                </a:lnTo>
                <a:lnTo>
                  <a:pt x="104108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7032010" y="165028"/>
            <a:ext cx="1198840" cy="1257799"/>
          </a:xfrm>
          <a:custGeom>
            <a:avLst/>
            <a:gdLst/>
            <a:ahLst/>
            <a:cxnLst/>
            <a:rect r="r" b="b" t="t" l="l"/>
            <a:pathLst>
              <a:path h="1257799" w="1198840">
                <a:moveTo>
                  <a:pt x="0" y="0"/>
                </a:moveTo>
                <a:lnTo>
                  <a:pt x="1198840" y="0"/>
                </a:lnTo>
                <a:lnTo>
                  <a:pt x="1198840" y="1257800"/>
                </a:lnTo>
                <a:lnTo>
                  <a:pt x="0" y="1257800"/>
                </a:lnTo>
                <a:lnTo>
                  <a:pt x="0" y="0"/>
                </a:lnTo>
                <a:close/>
              </a:path>
            </a:pathLst>
          </a:custGeom>
          <a:blipFill>
            <a:blip r:embed="rId5"/>
            <a:stretch>
              <a:fillRect l="0" t="0" r="0" b="0"/>
            </a:stretch>
          </a:blipFill>
        </p:spPr>
      </p:sp>
      <p:sp>
        <p:nvSpPr>
          <p:cNvPr name="TextBox 15" id="15"/>
          <p:cNvSpPr txBox="true"/>
          <p:nvPr/>
        </p:nvSpPr>
        <p:spPr>
          <a:xfrm rot="0">
            <a:off x="5043605" y="4451453"/>
            <a:ext cx="8373593" cy="4162415"/>
          </a:xfrm>
          <a:prstGeom prst="rect">
            <a:avLst/>
          </a:prstGeom>
        </p:spPr>
        <p:txBody>
          <a:bodyPr anchor="t" rtlCol="false" tIns="0" lIns="0" bIns="0" rIns="0">
            <a:spAutoFit/>
          </a:bodyPr>
          <a:lstStyle/>
          <a:p>
            <a:pPr algn="ctr">
              <a:lnSpc>
                <a:spcPts val="3692"/>
              </a:lnSpc>
            </a:pPr>
            <a:r>
              <a:rPr lang="en-US" sz="2637" b="true">
                <a:solidFill>
                  <a:srgbClr val="262829"/>
                </a:solidFill>
                <a:latin typeface="Noto Sans Bold"/>
                <a:ea typeface="Noto Sans Bold"/>
                <a:cs typeface="Noto Sans Bold"/>
                <a:sym typeface="Noto Sans Bold"/>
              </a:rPr>
              <a:t>Our vision is to create a helpful resource that connects farmers and consumers by sharing information. AgriWebHub aims to be the top platform for agricultural insights, allowing users to easily navigate the agricultural world and make better choices. By promoting connections through shared profiles, we want to strengthen the agricultural community and support fair trade.</a:t>
            </a:r>
          </a:p>
        </p:txBody>
      </p:sp>
      <p:sp>
        <p:nvSpPr>
          <p:cNvPr name="TextBox 16" id="16"/>
          <p:cNvSpPr txBox="true"/>
          <p:nvPr/>
        </p:nvSpPr>
        <p:spPr>
          <a:xfrm rot="0">
            <a:off x="5414489" y="1962060"/>
            <a:ext cx="6532704" cy="2537018"/>
          </a:xfrm>
          <a:prstGeom prst="rect">
            <a:avLst/>
          </a:prstGeom>
        </p:spPr>
        <p:txBody>
          <a:bodyPr anchor="t" rtlCol="false" tIns="0" lIns="0" bIns="0" rIns="0">
            <a:spAutoFit/>
          </a:bodyPr>
          <a:lstStyle/>
          <a:p>
            <a:pPr algn="r">
              <a:lnSpc>
                <a:spcPts val="20690"/>
              </a:lnSpc>
            </a:pPr>
            <a:r>
              <a:rPr lang="en-US" sz="14778" b="true">
                <a:solidFill>
                  <a:srgbClr val="124B3D"/>
                </a:solidFill>
                <a:latin typeface="TT Bluescreens Bold"/>
                <a:ea typeface="TT Bluescreens Bold"/>
                <a:cs typeface="TT Bluescreens Bold"/>
                <a:sym typeface="TT Bluescreens Bold"/>
              </a:rPr>
              <a:t>Our Vision</a:t>
            </a:r>
          </a:p>
        </p:txBody>
      </p:sp>
      <p:sp>
        <p:nvSpPr>
          <p:cNvPr name="TextBox 17" id="17"/>
          <p:cNvSpPr txBox="true"/>
          <p:nvPr/>
        </p:nvSpPr>
        <p:spPr>
          <a:xfrm rot="0">
            <a:off x="8510902" y="158462"/>
            <a:ext cx="1266196" cy="388207"/>
          </a:xfrm>
          <a:prstGeom prst="rect">
            <a:avLst/>
          </a:prstGeom>
        </p:spPr>
        <p:txBody>
          <a:bodyPr anchor="t" rtlCol="false" tIns="0" lIns="0" bIns="0" rIns="0">
            <a:spAutoFit/>
          </a:bodyPr>
          <a:lstStyle/>
          <a:p>
            <a:pPr algn="just">
              <a:lnSpc>
                <a:spcPts val="3277"/>
              </a:lnSpc>
            </a:pPr>
            <a:r>
              <a:rPr lang="en-US" sz="2341">
                <a:solidFill>
                  <a:srgbClr val="262829"/>
                </a:solidFill>
                <a:latin typeface="Noto Sans"/>
                <a:ea typeface="Noto Sans"/>
                <a:cs typeface="Noto Sans"/>
                <a:sym typeface="Noto Sans"/>
              </a:rPr>
              <a:t>Page 01</a:t>
            </a:r>
          </a:p>
        </p:txBody>
      </p:sp>
      <p:sp>
        <p:nvSpPr>
          <p:cNvPr name="TextBox 18" id="18"/>
          <p:cNvSpPr txBox="true"/>
          <p:nvPr/>
        </p:nvSpPr>
        <p:spPr>
          <a:xfrm rot="0">
            <a:off x="-874831" y="13745"/>
            <a:ext cx="2684054" cy="669442"/>
          </a:xfrm>
          <a:prstGeom prst="rect">
            <a:avLst/>
          </a:prstGeom>
        </p:spPr>
        <p:txBody>
          <a:bodyPr anchor="t" rtlCol="false" tIns="0" lIns="0" bIns="0" rIns="0">
            <a:spAutoFit/>
          </a:bodyPr>
          <a:lstStyle/>
          <a:p>
            <a:pPr algn="r">
              <a:lnSpc>
                <a:spcPts val="5364"/>
              </a:lnSpc>
            </a:pPr>
            <a:r>
              <a:rPr lang="en-US" sz="3831" b="true">
                <a:solidFill>
                  <a:srgbClr val="124B3D"/>
                </a:solidFill>
                <a:latin typeface="TT Bluescreens Bold"/>
                <a:ea typeface="TT Bluescreens Bold"/>
                <a:cs typeface="TT Bluescreens Bold"/>
                <a:sym typeface="TT Bluescreens Bold"/>
              </a:rPr>
              <a:t>AgriWebHub</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sp>
        <p:nvSpPr>
          <p:cNvPr name="Freeform 2" id="2"/>
          <p:cNvSpPr/>
          <p:nvPr/>
        </p:nvSpPr>
        <p:spPr>
          <a:xfrm flipH="true" flipV="false" rot="641523">
            <a:off x="65746" y="841979"/>
            <a:ext cx="5208275" cy="3743448"/>
          </a:xfrm>
          <a:custGeom>
            <a:avLst/>
            <a:gdLst/>
            <a:ahLst/>
            <a:cxnLst/>
            <a:rect r="r" b="b" t="t" l="l"/>
            <a:pathLst>
              <a:path h="3743448" w="5208275">
                <a:moveTo>
                  <a:pt x="5208276" y="0"/>
                </a:moveTo>
                <a:lnTo>
                  <a:pt x="0" y="0"/>
                </a:lnTo>
                <a:lnTo>
                  <a:pt x="0" y="3743448"/>
                </a:lnTo>
                <a:lnTo>
                  <a:pt x="5208276" y="3743448"/>
                </a:lnTo>
                <a:lnTo>
                  <a:pt x="52082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08327" y="-83504"/>
            <a:ext cx="19877457" cy="877432"/>
            <a:chOff x="0" y="0"/>
            <a:chExt cx="5235215" cy="231093"/>
          </a:xfrm>
        </p:grpSpPr>
        <p:sp>
          <p:nvSpPr>
            <p:cNvPr name="Freeform 4" id="4"/>
            <p:cNvSpPr/>
            <p:nvPr/>
          </p:nvSpPr>
          <p:spPr>
            <a:xfrm flipH="false" flipV="false" rot="0">
              <a:off x="0" y="0"/>
              <a:ext cx="5235215" cy="231093"/>
            </a:xfrm>
            <a:custGeom>
              <a:avLst/>
              <a:gdLst/>
              <a:ahLst/>
              <a:cxnLst/>
              <a:rect r="r" b="b" t="t" l="l"/>
              <a:pathLst>
                <a:path h="231093" w="5235215">
                  <a:moveTo>
                    <a:pt x="36222" y="0"/>
                  </a:moveTo>
                  <a:lnTo>
                    <a:pt x="5198993" y="0"/>
                  </a:lnTo>
                  <a:cubicBezTo>
                    <a:pt x="5208600" y="0"/>
                    <a:pt x="5217813" y="3816"/>
                    <a:pt x="5224606" y="10609"/>
                  </a:cubicBezTo>
                  <a:cubicBezTo>
                    <a:pt x="5231399" y="17402"/>
                    <a:pt x="5235215" y="26615"/>
                    <a:pt x="5235215" y="36222"/>
                  </a:cubicBezTo>
                  <a:lnTo>
                    <a:pt x="5235215" y="194871"/>
                  </a:lnTo>
                  <a:cubicBezTo>
                    <a:pt x="5235215" y="204478"/>
                    <a:pt x="5231399" y="213691"/>
                    <a:pt x="5224606" y="220484"/>
                  </a:cubicBezTo>
                  <a:cubicBezTo>
                    <a:pt x="5217813" y="227277"/>
                    <a:pt x="5208600" y="231093"/>
                    <a:pt x="5198993" y="231093"/>
                  </a:cubicBezTo>
                  <a:lnTo>
                    <a:pt x="36222" y="231093"/>
                  </a:lnTo>
                  <a:cubicBezTo>
                    <a:pt x="26615" y="231093"/>
                    <a:pt x="17402" y="227277"/>
                    <a:pt x="10609" y="220484"/>
                  </a:cubicBezTo>
                  <a:cubicBezTo>
                    <a:pt x="3816" y="213691"/>
                    <a:pt x="0" y="204478"/>
                    <a:pt x="0" y="194871"/>
                  </a:cubicBezTo>
                  <a:lnTo>
                    <a:pt x="0" y="36222"/>
                  </a:lnTo>
                  <a:cubicBezTo>
                    <a:pt x="0" y="26615"/>
                    <a:pt x="3816" y="17402"/>
                    <a:pt x="10609" y="10609"/>
                  </a:cubicBezTo>
                  <a:cubicBezTo>
                    <a:pt x="17402" y="3816"/>
                    <a:pt x="26615" y="0"/>
                    <a:pt x="36222" y="0"/>
                  </a:cubicBezTo>
                  <a:close/>
                </a:path>
              </a:pathLst>
            </a:custGeom>
            <a:solidFill>
              <a:srgbClr val="B1D4C7"/>
            </a:solidFill>
            <a:ln w="28575" cap="rnd">
              <a:solidFill>
                <a:srgbClr val="262829"/>
              </a:solidFill>
              <a:prstDash val="solid"/>
              <a:round/>
            </a:ln>
          </p:spPr>
        </p:sp>
        <p:sp>
          <p:nvSpPr>
            <p:cNvPr name="TextBox 5" id="5"/>
            <p:cNvSpPr txBox="true"/>
            <p:nvPr/>
          </p:nvSpPr>
          <p:spPr>
            <a:xfrm>
              <a:off x="0" y="-47625"/>
              <a:ext cx="5235215" cy="2787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932853" y="132533"/>
            <a:ext cx="4422295" cy="517590"/>
            <a:chOff x="0" y="0"/>
            <a:chExt cx="1164720" cy="136320"/>
          </a:xfrm>
        </p:grpSpPr>
        <p:sp>
          <p:nvSpPr>
            <p:cNvPr name="Freeform 7" id="7"/>
            <p:cNvSpPr/>
            <p:nvPr/>
          </p:nvSpPr>
          <p:spPr>
            <a:xfrm flipH="false" flipV="false" rot="0">
              <a:off x="0" y="0"/>
              <a:ext cx="1164720" cy="136320"/>
            </a:xfrm>
            <a:custGeom>
              <a:avLst/>
              <a:gdLst/>
              <a:ahLst/>
              <a:cxnLst/>
              <a:rect r="r" b="b" t="t" l="l"/>
              <a:pathLst>
                <a:path h="136320" w="1164720">
                  <a:moveTo>
                    <a:pt x="68160" y="0"/>
                  </a:moveTo>
                  <a:lnTo>
                    <a:pt x="1096560" y="0"/>
                  </a:lnTo>
                  <a:cubicBezTo>
                    <a:pt x="1134203" y="0"/>
                    <a:pt x="1164720" y="30516"/>
                    <a:pt x="1164720" y="68160"/>
                  </a:cubicBezTo>
                  <a:lnTo>
                    <a:pt x="1164720" y="68160"/>
                  </a:lnTo>
                  <a:cubicBezTo>
                    <a:pt x="1164720" y="105804"/>
                    <a:pt x="1134203" y="136320"/>
                    <a:pt x="1096560" y="136320"/>
                  </a:cubicBezTo>
                  <a:lnTo>
                    <a:pt x="68160" y="136320"/>
                  </a:lnTo>
                  <a:cubicBezTo>
                    <a:pt x="30516" y="136320"/>
                    <a:pt x="0" y="105804"/>
                    <a:pt x="0" y="68160"/>
                  </a:cubicBezTo>
                  <a:lnTo>
                    <a:pt x="0" y="68160"/>
                  </a:lnTo>
                  <a:cubicBezTo>
                    <a:pt x="0" y="30516"/>
                    <a:pt x="30516" y="0"/>
                    <a:pt x="68160" y="0"/>
                  </a:cubicBezTo>
                  <a:close/>
                </a:path>
              </a:pathLst>
            </a:custGeom>
            <a:solidFill>
              <a:srgbClr val="F0F4D4"/>
            </a:solidFill>
            <a:ln w="28575" cap="rnd">
              <a:solidFill>
                <a:srgbClr val="262829"/>
              </a:solidFill>
              <a:prstDash val="solid"/>
              <a:round/>
            </a:ln>
          </p:spPr>
        </p:sp>
        <p:sp>
          <p:nvSpPr>
            <p:cNvPr name="TextBox 8" id="8"/>
            <p:cNvSpPr txBox="true"/>
            <p:nvPr/>
          </p:nvSpPr>
          <p:spPr>
            <a:xfrm>
              <a:off x="0" y="-47625"/>
              <a:ext cx="1164720" cy="18394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72539" y="3748939"/>
            <a:ext cx="5098858" cy="5517816"/>
            <a:chOff x="0" y="0"/>
            <a:chExt cx="1342909" cy="1453252"/>
          </a:xfrm>
        </p:grpSpPr>
        <p:sp>
          <p:nvSpPr>
            <p:cNvPr name="Freeform 10" id="10"/>
            <p:cNvSpPr/>
            <p:nvPr/>
          </p:nvSpPr>
          <p:spPr>
            <a:xfrm flipH="false" flipV="false" rot="0">
              <a:off x="0" y="0"/>
              <a:ext cx="1342909" cy="1453252"/>
            </a:xfrm>
            <a:custGeom>
              <a:avLst/>
              <a:gdLst/>
              <a:ahLst/>
              <a:cxnLst/>
              <a:rect r="r" b="b" t="t" l="l"/>
              <a:pathLst>
                <a:path h="1453252" w="1342909">
                  <a:moveTo>
                    <a:pt x="104767" y="0"/>
                  </a:moveTo>
                  <a:lnTo>
                    <a:pt x="1238142" y="0"/>
                  </a:lnTo>
                  <a:cubicBezTo>
                    <a:pt x="1296003" y="0"/>
                    <a:pt x="1342909" y="46906"/>
                    <a:pt x="1342909" y="104767"/>
                  </a:cubicBezTo>
                  <a:lnTo>
                    <a:pt x="1342909" y="1348485"/>
                  </a:lnTo>
                  <a:cubicBezTo>
                    <a:pt x="1342909" y="1406346"/>
                    <a:pt x="1296003" y="1453252"/>
                    <a:pt x="1238142" y="1453252"/>
                  </a:cubicBezTo>
                  <a:lnTo>
                    <a:pt x="104767" y="1453252"/>
                  </a:lnTo>
                  <a:cubicBezTo>
                    <a:pt x="46906" y="1453252"/>
                    <a:pt x="0" y="1406346"/>
                    <a:pt x="0" y="1348485"/>
                  </a:cubicBezTo>
                  <a:lnTo>
                    <a:pt x="0" y="104767"/>
                  </a:lnTo>
                  <a:cubicBezTo>
                    <a:pt x="0" y="46906"/>
                    <a:pt x="46906" y="0"/>
                    <a:pt x="104767" y="0"/>
                  </a:cubicBezTo>
                  <a:close/>
                </a:path>
              </a:pathLst>
            </a:custGeom>
            <a:solidFill>
              <a:srgbClr val="000000">
                <a:alpha val="0"/>
              </a:srgbClr>
            </a:solidFill>
            <a:ln w="28575" cap="rnd">
              <a:solidFill>
                <a:srgbClr val="262829"/>
              </a:solidFill>
              <a:prstDash val="solid"/>
              <a:round/>
            </a:ln>
          </p:spPr>
        </p:sp>
        <p:sp>
          <p:nvSpPr>
            <p:cNvPr name="TextBox 11" id="11"/>
            <p:cNvSpPr txBox="true"/>
            <p:nvPr/>
          </p:nvSpPr>
          <p:spPr>
            <a:xfrm>
              <a:off x="0" y="-47625"/>
              <a:ext cx="1342909" cy="150087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72539" y="3461035"/>
            <a:ext cx="5098858" cy="994004"/>
            <a:chOff x="0" y="0"/>
            <a:chExt cx="1342909" cy="261795"/>
          </a:xfrm>
        </p:grpSpPr>
        <p:sp>
          <p:nvSpPr>
            <p:cNvPr name="Freeform 13" id="13"/>
            <p:cNvSpPr/>
            <p:nvPr/>
          </p:nvSpPr>
          <p:spPr>
            <a:xfrm flipH="false" flipV="false" rot="0">
              <a:off x="0" y="0"/>
              <a:ext cx="1342909" cy="261795"/>
            </a:xfrm>
            <a:custGeom>
              <a:avLst/>
              <a:gdLst/>
              <a:ahLst/>
              <a:cxnLst/>
              <a:rect r="r" b="b" t="t" l="l"/>
              <a:pathLst>
                <a:path h="261795" w="1342909">
                  <a:moveTo>
                    <a:pt x="130898" y="0"/>
                  </a:moveTo>
                  <a:lnTo>
                    <a:pt x="1212012" y="0"/>
                  </a:lnTo>
                  <a:cubicBezTo>
                    <a:pt x="1284304" y="0"/>
                    <a:pt x="1342909" y="58605"/>
                    <a:pt x="1342909" y="130898"/>
                  </a:cubicBezTo>
                  <a:lnTo>
                    <a:pt x="1342909" y="130898"/>
                  </a:lnTo>
                  <a:cubicBezTo>
                    <a:pt x="1342909" y="165614"/>
                    <a:pt x="1329118" y="198908"/>
                    <a:pt x="1304570" y="223456"/>
                  </a:cubicBezTo>
                  <a:cubicBezTo>
                    <a:pt x="1280022" y="248004"/>
                    <a:pt x="1246728" y="261795"/>
                    <a:pt x="1212012" y="261795"/>
                  </a:cubicBezTo>
                  <a:lnTo>
                    <a:pt x="130898" y="261795"/>
                  </a:lnTo>
                  <a:cubicBezTo>
                    <a:pt x="58605" y="261795"/>
                    <a:pt x="0" y="203190"/>
                    <a:pt x="0" y="130898"/>
                  </a:cubicBezTo>
                  <a:lnTo>
                    <a:pt x="0" y="130898"/>
                  </a:lnTo>
                  <a:cubicBezTo>
                    <a:pt x="0" y="58605"/>
                    <a:pt x="58605" y="0"/>
                    <a:pt x="130898" y="0"/>
                  </a:cubicBezTo>
                  <a:close/>
                </a:path>
              </a:pathLst>
            </a:custGeom>
            <a:solidFill>
              <a:srgbClr val="B1D4C7"/>
            </a:solidFill>
            <a:ln w="28575" cap="rnd">
              <a:solidFill>
                <a:srgbClr val="262829"/>
              </a:solidFill>
              <a:prstDash val="solid"/>
              <a:round/>
            </a:ln>
          </p:spPr>
        </p:sp>
        <p:sp>
          <p:nvSpPr>
            <p:cNvPr name="TextBox 14" id="14"/>
            <p:cNvSpPr txBox="true"/>
            <p:nvPr/>
          </p:nvSpPr>
          <p:spPr>
            <a:xfrm>
              <a:off x="0" y="-47625"/>
              <a:ext cx="1342909" cy="30942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6680972" y="3748939"/>
            <a:ext cx="5098858" cy="5517816"/>
            <a:chOff x="0" y="0"/>
            <a:chExt cx="1342909" cy="1453252"/>
          </a:xfrm>
        </p:grpSpPr>
        <p:sp>
          <p:nvSpPr>
            <p:cNvPr name="Freeform 16" id="16"/>
            <p:cNvSpPr/>
            <p:nvPr/>
          </p:nvSpPr>
          <p:spPr>
            <a:xfrm flipH="false" flipV="false" rot="0">
              <a:off x="0" y="0"/>
              <a:ext cx="1342909" cy="1453252"/>
            </a:xfrm>
            <a:custGeom>
              <a:avLst/>
              <a:gdLst/>
              <a:ahLst/>
              <a:cxnLst/>
              <a:rect r="r" b="b" t="t" l="l"/>
              <a:pathLst>
                <a:path h="1453252" w="1342909">
                  <a:moveTo>
                    <a:pt x="104767" y="0"/>
                  </a:moveTo>
                  <a:lnTo>
                    <a:pt x="1238142" y="0"/>
                  </a:lnTo>
                  <a:cubicBezTo>
                    <a:pt x="1296003" y="0"/>
                    <a:pt x="1342909" y="46906"/>
                    <a:pt x="1342909" y="104767"/>
                  </a:cubicBezTo>
                  <a:lnTo>
                    <a:pt x="1342909" y="1348485"/>
                  </a:lnTo>
                  <a:cubicBezTo>
                    <a:pt x="1342909" y="1406346"/>
                    <a:pt x="1296003" y="1453252"/>
                    <a:pt x="1238142" y="1453252"/>
                  </a:cubicBezTo>
                  <a:lnTo>
                    <a:pt x="104767" y="1453252"/>
                  </a:lnTo>
                  <a:cubicBezTo>
                    <a:pt x="46906" y="1453252"/>
                    <a:pt x="0" y="1406346"/>
                    <a:pt x="0" y="1348485"/>
                  </a:cubicBezTo>
                  <a:lnTo>
                    <a:pt x="0" y="104767"/>
                  </a:lnTo>
                  <a:cubicBezTo>
                    <a:pt x="0" y="46906"/>
                    <a:pt x="46906" y="0"/>
                    <a:pt x="104767" y="0"/>
                  </a:cubicBezTo>
                  <a:close/>
                </a:path>
              </a:pathLst>
            </a:custGeom>
            <a:solidFill>
              <a:srgbClr val="000000">
                <a:alpha val="0"/>
              </a:srgbClr>
            </a:solidFill>
            <a:ln w="28575" cap="rnd">
              <a:solidFill>
                <a:srgbClr val="262829"/>
              </a:solidFill>
              <a:prstDash val="solid"/>
              <a:round/>
            </a:ln>
          </p:spPr>
        </p:sp>
        <p:sp>
          <p:nvSpPr>
            <p:cNvPr name="TextBox 17" id="17"/>
            <p:cNvSpPr txBox="true"/>
            <p:nvPr/>
          </p:nvSpPr>
          <p:spPr>
            <a:xfrm>
              <a:off x="0" y="-47625"/>
              <a:ext cx="1342909" cy="1500877"/>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680972" y="3461035"/>
            <a:ext cx="5098858" cy="994004"/>
            <a:chOff x="0" y="0"/>
            <a:chExt cx="1342909" cy="261795"/>
          </a:xfrm>
        </p:grpSpPr>
        <p:sp>
          <p:nvSpPr>
            <p:cNvPr name="Freeform 19" id="19"/>
            <p:cNvSpPr/>
            <p:nvPr/>
          </p:nvSpPr>
          <p:spPr>
            <a:xfrm flipH="false" flipV="false" rot="0">
              <a:off x="0" y="0"/>
              <a:ext cx="1342909" cy="261795"/>
            </a:xfrm>
            <a:custGeom>
              <a:avLst/>
              <a:gdLst/>
              <a:ahLst/>
              <a:cxnLst/>
              <a:rect r="r" b="b" t="t" l="l"/>
              <a:pathLst>
                <a:path h="261795" w="1342909">
                  <a:moveTo>
                    <a:pt x="130898" y="0"/>
                  </a:moveTo>
                  <a:lnTo>
                    <a:pt x="1212012" y="0"/>
                  </a:lnTo>
                  <a:cubicBezTo>
                    <a:pt x="1284304" y="0"/>
                    <a:pt x="1342909" y="58605"/>
                    <a:pt x="1342909" y="130898"/>
                  </a:cubicBezTo>
                  <a:lnTo>
                    <a:pt x="1342909" y="130898"/>
                  </a:lnTo>
                  <a:cubicBezTo>
                    <a:pt x="1342909" y="165614"/>
                    <a:pt x="1329118" y="198908"/>
                    <a:pt x="1304570" y="223456"/>
                  </a:cubicBezTo>
                  <a:cubicBezTo>
                    <a:pt x="1280022" y="248004"/>
                    <a:pt x="1246728" y="261795"/>
                    <a:pt x="1212012" y="261795"/>
                  </a:cubicBezTo>
                  <a:lnTo>
                    <a:pt x="130898" y="261795"/>
                  </a:lnTo>
                  <a:cubicBezTo>
                    <a:pt x="58605" y="261795"/>
                    <a:pt x="0" y="203190"/>
                    <a:pt x="0" y="130898"/>
                  </a:cubicBezTo>
                  <a:lnTo>
                    <a:pt x="0" y="130898"/>
                  </a:lnTo>
                  <a:cubicBezTo>
                    <a:pt x="0" y="58605"/>
                    <a:pt x="58605" y="0"/>
                    <a:pt x="130898" y="0"/>
                  </a:cubicBezTo>
                  <a:close/>
                </a:path>
              </a:pathLst>
            </a:custGeom>
            <a:solidFill>
              <a:srgbClr val="B1D4C7"/>
            </a:solidFill>
            <a:ln w="28575" cap="rnd">
              <a:solidFill>
                <a:srgbClr val="262829"/>
              </a:solidFill>
              <a:prstDash val="solid"/>
              <a:round/>
            </a:ln>
          </p:spPr>
        </p:sp>
        <p:sp>
          <p:nvSpPr>
            <p:cNvPr name="TextBox 20" id="20"/>
            <p:cNvSpPr txBox="true"/>
            <p:nvPr/>
          </p:nvSpPr>
          <p:spPr>
            <a:xfrm>
              <a:off x="0" y="-47625"/>
              <a:ext cx="1342909" cy="30942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189405" y="3748939"/>
            <a:ext cx="5098858" cy="5517816"/>
            <a:chOff x="0" y="0"/>
            <a:chExt cx="1342909" cy="1453252"/>
          </a:xfrm>
        </p:grpSpPr>
        <p:sp>
          <p:nvSpPr>
            <p:cNvPr name="Freeform 22" id="22"/>
            <p:cNvSpPr/>
            <p:nvPr/>
          </p:nvSpPr>
          <p:spPr>
            <a:xfrm flipH="false" flipV="false" rot="0">
              <a:off x="0" y="0"/>
              <a:ext cx="1342909" cy="1453252"/>
            </a:xfrm>
            <a:custGeom>
              <a:avLst/>
              <a:gdLst/>
              <a:ahLst/>
              <a:cxnLst/>
              <a:rect r="r" b="b" t="t" l="l"/>
              <a:pathLst>
                <a:path h="1453252" w="1342909">
                  <a:moveTo>
                    <a:pt x="104767" y="0"/>
                  </a:moveTo>
                  <a:lnTo>
                    <a:pt x="1238142" y="0"/>
                  </a:lnTo>
                  <a:cubicBezTo>
                    <a:pt x="1296003" y="0"/>
                    <a:pt x="1342909" y="46906"/>
                    <a:pt x="1342909" y="104767"/>
                  </a:cubicBezTo>
                  <a:lnTo>
                    <a:pt x="1342909" y="1348485"/>
                  </a:lnTo>
                  <a:cubicBezTo>
                    <a:pt x="1342909" y="1406346"/>
                    <a:pt x="1296003" y="1453252"/>
                    <a:pt x="1238142" y="1453252"/>
                  </a:cubicBezTo>
                  <a:lnTo>
                    <a:pt x="104767" y="1453252"/>
                  </a:lnTo>
                  <a:cubicBezTo>
                    <a:pt x="46906" y="1453252"/>
                    <a:pt x="0" y="1406346"/>
                    <a:pt x="0" y="1348485"/>
                  </a:cubicBezTo>
                  <a:lnTo>
                    <a:pt x="0" y="104767"/>
                  </a:lnTo>
                  <a:cubicBezTo>
                    <a:pt x="0" y="46906"/>
                    <a:pt x="46906" y="0"/>
                    <a:pt x="104767" y="0"/>
                  </a:cubicBezTo>
                  <a:close/>
                </a:path>
              </a:pathLst>
            </a:custGeom>
            <a:solidFill>
              <a:srgbClr val="000000">
                <a:alpha val="0"/>
              </a:srgbClr>
            </a:solidFill>
            <a:ln w="28575" cap="rnd">
              <a:solidFill>
                <a:srgbClr val="262829"/>
              </a:solidFill>
              <a:prstDash val="solid"/>
              <a:round/>
            </a:ln>
          </p:spPr>
        </p:sp>
        <p:sp>
          <p:nvSpPr>
            <p:cNvPr name="TextBox 23" id="23"/>
            <p:cNvSpPr txBox="true"/>
            <p:nvPr/>
          </p:nvSpPr>
          <p:spPr>
            <a:xfrm>
              <a:off x="0" y="-47625"/>
              <a:ext cx="1342909" cy="1500877"/>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2187199" y="3461035"/>
            <a:ext cx="5098858" cy="994004"/>
            <a:chOff x="0" y="0"/>
            <a:chExt cx="1342909" cy="261795"/>
          </a:xfrm>
        </p:grpSpPr>
        <p:sp>
          <p:nvSpPr>
            <p:cNvPr name="Freeform 25" id="25"/>
            <p:cNvSpPr/>
            <p:nvPr/>
          </p:nvSpPr>
          <p:spPr>
            <a:xfrm flipH="false" flipV="false" rot="0">
              <a:off x="0" y="0"/>
              <a:ext cx="1342909" cy="261795"/>
            </a:xfrm>
            <a:custGeom>
              <a:avLst/>
              <a:gdLst/>
              <a:ahLst/>
              <a:cxnLst/>
              <a:rect r="r" b="b" t="t" l="l"/>
              <a:pathLst>
                <a:path h="261795" w="1342909">
                  <a:moveTo>
                    <a:pt x="130898" y="0"/>
                  </a:moveTo>
                  <a:lnTo>
                    <a:pt x="1212012" y="0"/>
                  </a:lnTo>
                  <a:cubicBezTo>
                    <a:pt x="1284304" y="0"/>
                    <a:pt x="1342909" y="58605"/>
                    <a:pt x="1342909" y="130898"/>
                  </a:cubicBezTo>
                  <a:lnTo>
                    <a:pt x="1342909" y="130898"/>
                  </a:lnTo>
                  <a:cubicBezTo>
                    <a:pt x="1342909" y="165614"/>
                    <a:pt x="1329118" y="198908"/>
                    <a:pt x="1304570" y="223456"/>
                  </a:cubicBezTo>
                  <a:cubicBezTo>
                    <a:pt x="1280022" y="248004"/>
                    <a:pt x="1246728" y="261795"/>
                    <a:pt x="1212012" y="261795"/>
                  </a:cubicBezTo>
                  <a:lnTo>
                    <a:pt x="130898" y="261795"/>
                  </a:lnTo>
                  <a:cubicBezTo>
                    <a:pt x="58605" y="261795"/>
                    <a:pt x="0" y="203190"/>
                    <a:pt x="0" y="130898"/>
                  </a:cubicBezTo>
                  <a:lnTo>
                    <a:pt x="0" y="130898"/>
                  </a:lnTo>
                  <a:cubicBezTo>
                    <a:pt x="0" y="58605"/>
                    <a:pt x="58605" y="0"/>
                    <a:pt x="130898" y="0"/>
                  </a:cubicBezTo>
                  <a:close/>
                </a:path>
              </a:pathLst>
            </a:custGeom>
            <a:solidFill>
              <a:srgbClr val="B1D4C7"/>
            </a:solidFill>
            <a:ln w="28575" cap="rnd">
              <a:solidFill>
                <a:srgbClr val="262829"/>
              </a:solidFill>
              <a:prstDash val="solid"/>
              <a:round/>
            </a:ln>
          </p:spPr>
        </p:sp>
        <p:sp>
          <p:nvSpPr>
            <p:cNvPr name="TextBox 26" id="26"/>
            <p:cNvSpPr txBox="true"/>
            <p:nvPr/>
          </p:nvSpPr>
          <p:spPr>
            <a:xfrm>
              <a:off x="0" y="-47625"/>
              <a:ext cx="1342909" cy="30942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5576072" y="857250"/>
            <a:ext cx="12013641" cy="2047511"/>
          </a:xfrm>
          <a:prstGeom prst="rect">
            <a:avLst/>
          </a:prstGeom>
        </p:spPr>
        <p:txBody>
          <a:bodyPr anchor="t" rtlCol="false" tIns="0" lIns="0" bIns="0" rIns="0">
            <a:spAutoFit/>
          </a:bodyPr>
          <a:lstStyle/>
          <a:p>
            <a:pPr algn="r">
              <a:lnSpc>
                <a:spcPts val="16683"/>
              </a:lnSpc>
            </a:pPr>
            <a:r>
              <a:rPr lang="en-US" sz="11916" b="true">
                <a:solidFill>
                  <a:srgbClr val="124B3D"/>
                </a:solidFill>
                <a:latin typeface="TT Bluescreens Bold"/>
                <a:ea typeface="TT Bluescreens Bold"/>
                <a:cs typeface="TT Bluescreens Bold"/>
                <a:sym typeface="TT Bluescreens Bold"/>
              </a:rPr>
              <a:t>Idea that lead to the concept </a:t>
            </a:r>
          </a:p>
        </p:txBody>
      </p:sp>
      <p:sp>
        <p:nvSpPr>
          <p:cNvPr name="TextBox 28" id="28"/>
          <p:cNvSpPr txBox="true"/>
          <p:nvPr/>
        </p:nvSpPr>
        <p:spPr>
          <a:xfrm rot="0">
            <a:off x="8510902" y="158462"/>
            <a:ext cx="1266196" cy="388207"/>
          </a:xfrm>
          <a:prstGeom prst="rect">
            <a:avLst/>
          </a:prstGeom>
        </p:spPr>
        <p:txBody>
          <a:bodyPr anchor="t" rtlCol="false" tIns="0" lIns="0" bIns="0" rIns="0">
            <a:spAutoFit/>
          </a:bodyPr>
          <a:lstStyle/>
          <a:p>
            <a:pPr algn="just">
              <a:lnSpc>
                <a:spcPts val="3277"/>
              </a:lnSpc>
            </a:pPr>
            <a:r>
              <a:rPr lang="en-US" sz="2341">
                <a:solidFill>
                  <a:srgbClr val="262829"/>
                </a:solidFill>
                <a:latin typeface="Noto Sans"/>
                <a:ea typeface="Noto Sans"/>
                <a:cs typeface="Noto Sans"/>
                <a:sym typeface="Noto Sans"/>
              </a:rPr>
              <a:t>Page 03</a:t>
            </a:r>
          </a:p>
        </p:txBody>
      </p:sp>
      <p:sp>
        <p:nvSpPr>
          <p:cNvPr name="TextBox 29" id="29"/>
          <p:cNvSpPr txBox="true"/>
          <p:nvPr/>
        </p:nvSpPr>
        <p:spPr>
          <a:xfrm rot="0">
            <a:off x="1985319" y="3674009"/>
            <a:ext cx="3590753" cy="463772"/>
          </a:xfrm>
          <a:prstGeom prst="rect">
            <a:avLst/>
          </a:prstGeom>
        </p:spPr>
        <p:txBody>
          <a:bodyPr anchor="t" rtlCol="false" tIns="0" lIns="0" bIns="0" rIns="0">
            <a:spAutoFit/>
          </a:bodyPr>
          <a:lstStyle/>
          <a:p>
            <a:pPr algn="ctr">
              <a:lnSpc>
                <a:spcPts val="3837"/>
              </a:lnSpc>
            </a:pPr>
            <a:r>
              <a:rPr lang="en-US" b="true" sz="2741" spc="-54">
                <a:solidFill>
                  <a:srgbClr val="262829"/>
                </a:solidFill>
                <a:latin typeface="Noto Sans Bold"/>
                <a:ea typeface="Noto Sans Bold"/>
                <a:cs typeface="Noto Sans Bold"/>
                <a:sym typeface="Noto Sans Bold"/>
              </a:rPr>
              <a:t> farmer</a:t>
            </a:r>
          </a:p>
        </p:txBody>
      </p:sp>
      <p:sp>
        <p:nvSpPr>
          <p:cNvPr name="TextBox 30" id="30"/>
          <p:cNvSpPr txBox="true"/>
          <p:nvPr/>
        </p:nvSpPr>
        <p:spPr>
          <a:xfrm rot="0">
            <a:off x="7167031" y="3674009"/>
            <a:ext cx="4517549" cy="463772"/>
          </a:xfrm>
          <a:prstGeom prst="rect">
            <a:avLst/>
          </a:prstGeom>
        </p:spPr>
        <p:txBody>
          <a:bodyPr anchor="t" rtlCol="false" tIns="0" lIns="0" bIns="0" rIns="0">
            <a:spAutoFit/>
          </a:bodyPr>
          <a:lstStyle/>
          <a:p>
            <a:pPr algn="ctr">
              <a:lnSpc>
                <a:spcPts val="3837"/>
              </a:lnSpc>
            </a:pPr>
            <a:r>
              <a:rPr lang="en-US" b="true" sz="2741" spc="-54">
                <a:solidFill>
                  <a:srgbClr val="262829"/>
                </a:solidFill>
                <a:latin typeface="Noto Sans Bold"/>
                <a:ea typeface="Noto Sans Bold"/>
                <a:cs typeface="Noto Sans Bold"/>
                <a:sym typeface="Noto Sans Bold"/>
              </a:rPr>
              <a:t>middlemen</a:t>
            </a:r>
          </a:p>
        </p:txBody>
      </p:sp>
      <p:sp>
        <p:nvSpPr>
          <p:cNvPr name="TextBox 31" id="31"/>
          <p:cNvSpPr txBox="true"/>
          <p:nvPr/>
        </p:nvSpPr>
        <p:spPr>
          <a:xfrm rot="0">
            <a:off x="12646605" y="3674009"/>
            <a:ext cx="4498783" cy="463772"/>
          </a:xfrm>
          <a:prstGeom prst="rect">
            <a:avLst/>
          </a:prstGeom>
        </p:spPr>
        <p:txBody>
          <a:bodyPr anchor="t" rtlCol="false" tIns="0" lIns="0" bIns="0" rIns="0">
            <a:spAutoFit/>
          </a:bodyPr>
          <a:lstStyle/>
          <a:p>
            <a:pPr algn="ctr">
              <a:lnSpc>
                <a:spcPts val="3837"/>
              </a:lnSpc>
            </a:pPr>
            <a:r>
              <a:rPr lang="en-US" b="true" sz="2741" spc="-54">
                <a:solidFill>
                  <a:srgbClr val="262829"/>
                </a:solidFill>
                <a:latin typeface="Noto Sans Bold"/>
                <a:ea typeface="Noto Sans Bold"/>
                <a:cs typeface="Noto Sans Bold"/>
                <a:sym typeface="Noto Sans Bold"/>
              </a:rPr>
              <a:t>consumer</a:t>
            </a:r>
          </a:p>
        </p:txBody>
      </p:sp>
      <p:sp>
        <p:nvSpPr>
          <p:cNvPr name="TextBox 32" id="32"/>
          <p:cNvSpPr txBox="true"/>
          <p:nvPr/>
        </p:nvSpPr>
        <p:spPr>
          <a:xfrm rot="0">
            <a:off x="1638862" y="5441598"/>
            <a:ext cx="4166211" cy="2406458"/>
          </a:xfrm>
          <a:prstGeom prst="rect">
            <a:avLst/>
          </a:prstGeom>
        </p:spPr>
        <p:txBody>
          <a:bodyPr anchor="t" rtlCol="false" tIns="0" lIns="0" bIns="0" rIns="0">
            <a:spAutoFit/>
          </a:bodyPr>
          <a:lstStyle/>
          <a:p>
            <a:pPr algn="ctr">
              <a:lnSpc>
                <a:spcPts val="3860"/>
              </a:lnSpc>
            </a:pPr>
            <a:r>
              <a:rPr lang="en-US" sz="2757">
                <a:solidFill>
                  <a:srgbClr val="262829"/>
                </a:solidFill>
                <a:latin typeface="Noto Sans"/>
                <a:ea typeface="Noto Sans"/>
                <a:cs typeface="Noto Sans"/>
                <a:sym typeface="Noto Sans"/>
              </a:rPr>
              <a:t>In traditional agricultural practices, farmers often face challenges in accessing markets directly.</a:t>
            </a:r>
          </a:p>
        </p:txBody>
      </p:sp>
      <p:sp>
        <p:nvSpPr>
          <p:cNvPr name="TextBox 33" id="33"/>
          <p:cNvSpPr txBox="true"/>
          <p:nvPr/>
        </p:nvSpPr>
        <p:spPr>
          <a:xfrm rot="0">
            <a:off x="6932853" y="5441598"/>
            <a:ext cx="4751728" cy="2452751"/>
          </a:xfrm>
          <a:prstGeom prst="rect">
            <a:avLst/>
          </a:prstGeom>
        </p:spPr>
        <p:txBody>
          <a:bodyPr anchor="t" rtlCol="false" tIns="0" lIns="0" bIns="0" rIns="0">
            <a:spAutoFit/>
          </a:bodyPr>
          <a:lstStyle/>
          <a:p>
            <a:pPr algn="ctr">
              <a:lnSpc>
                <a:spcPts val="3934"/>
              </a:lnSpc>
            </a:pPr>
            <a:r>
              <a:rPr lang="en-US" sz="2810">
                <a:solidFill>
                  <a:srgbClr val="262829"/>
                </a:solidFill>
                <a:latin typeface="Noto Sans"/>
                <a:ea typeface="Noto Sans"/>
                <a:cs typeface="Noto Sans"/>
                <a:sym typeface="Noto Sans"/>
              </a:rPr>
              <a:t>Middlemen often exploit farmers by offering low prices for their produce, resulting in unfair compensation.</a:t>
            </a:r>
          </a:p>
        </p:txBody>
      </p:sp>
      <p:sp>
        <p:nvSpPr>
          <p:cNvPr name="TextBox 34" id="34"/>
          <p:cNvSpPr txBox="true"/>
          <p:nvPr/>
        </p:nvSpPr>
        <p:spPr>
          <a:xfrm rot="0">
            <a:off x="12470087" y="5586547"/>
            <a:ext cx="4552130" cy="3272331"/>
          </a:xfrm>
          <a:prstGeom prst="rect">
            <a:avLst/>
          </a:prstGeom>
        </p:spPr>
        <p:txBody>
          <a:bodyPr anchor="t" rtlCol="false" tIns="0" lIns="0" bIns="0" rIns="0">
            <a:spAutoFit/>
          </a:bodyPr>
          <a:lstStyle/>
          <a:p>
            <a:pPr algn="ctr">
              <a:lnSpc>
                <a:spcPts val="3910"/>
              </a:lnSpc>
            </a:pPr>
            <a:r>
              <a:rPr lang="en-US" sz="2793">
                <a:solidFill>
                  <a:srgbClr val="262829"/>
                </a:solidFill>
                <a:latin typeface="Noto Sans"/>
                <a:ea typeface="Noto Sans"/>
                <a:cs typeface="Noto Sans"/>
                <a:sym typeface="Noto Sans"/>
              </a:rPr>
              <a:t>Consumers struggle to find reliable sources of fresh, locally sourced agricultural products.</a:t>
            </a:r>
          </a:p>
          <a:p>
            <a:pPr algn="just">
              <a:lnSpc>
                <a:spcPts val="6432"/>
              </a:lnSpc>
            </a:pPr>
          </a:p>
          <a:p>
            <a:pPr algn="just">
              <a:lnSpc>
                <a:spcPts val="3910"/>
              </a:lnSpc>
            </a:pPr>
          </a:p>
        </p:txBody>
      </p:sp>
      <p:sp>
        <p:nvSpPr>
          <p:cNvPr name="Freeform 35" id="35"/>
          <p:cNvSpPr/>
          <p:nvPr/>
        </p:nvSpPr>
        <p:spPr>
          <a:xfrm flipH="false" flipV="false" rot="0">
            <a:off x="-1078022" y="9743005"/>
            <a:ext cx="4160892" cy="264784"/>
          </a:xfrm>
          <a:custGeom>
            <a:avLst/>
            <a:gdLst/>
            <a:ahLst/>
            <a:cxnLst/>
            <a:rect r="r" b="b" t="t" l="l"/>
            <a:pathLst>
              <a:path h="264784" w="4160892">
                <a:moveTo>
                  <a:pt x="0" y="0"/>
                </a:moveTo>
                <a:lnTo>
                  <a:pt x="4160892" y="0"/>
                </a:lnTo>
                <a:lnTo>
                  <a:pt x="4160892" y="264784"/>
                </a:lnTo>
                <a:lnTo>
                  <a:pt x="0" y="264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6" id="36"/>
          <p:cNvSpPr/>
          <p:nvPr/>
        </p:nvSpPr>
        <p:spPr>
          <a:xfrm flipH="false" flipV="false" rot="0">
            <a:off x="2997145" y="9743005"/>
            <a:ext cx="4160892" cy="264784"/>
          </a:xfrm>
          <a:custGeom>
            <a:avLst/>
            <a:gdLst/>
            <a:ahLst/>
            <a:cxnLst/>
            <a:rect r="r" b="b" t="t" l="l"/>
            <a:pathLst>
              <a:path h="264784" w="4160892">
                <a:moveTo>
                  <a:pt x="0" y="0"/>
                </a:moveTo>
                <a:lnTo>
                  <a:pt x="4160893" y="0"/>
                </a:lnTo>
                <a:lnTo>
                  <a:pt x="4160893" y="264784"/>
                </a:lnTo>
                <a:lnTo>
                  <a:pt x="0" y="264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7" id="37"/>
          <p:cNvSpPr/>
          <p:nvPr/>
        </p:nvSpPr>
        <p:spPr>
          <a:xfrm flipH="false" flipV="false" rot="0">
            <a:off x="7062788" y="9743005"/>
            <a:ext cx="4160892" cy="264784"/>
          </a:xfrm>
          <a:custGeom>
            <a:avLst/>
            <a:gdLst/>
            <a:ahLst/>
            <a:cxnLst/>
            <a:rect r="r" b="b" t="t" l="l"/>
            <a:pathLst>
              <a:path h="264784" w="4160892">
                <a:moveTo>
                  <a:pt x="0" y="0"/>
                </a:moveTo>
                <a:lnTo>
                  <a:pt x="4160892" y="0"/>
                </a:lnTo>
                <a:lnTo>
                  <a:pt x="4160892" y="264784"/>
                </a:lnTo>
                <a:lnTo>
                  <a:pt x="0" y="264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8" id="38"/>
          <p:cNvSpPr/>
          <p:nvPr/>
        </p:nvSpPr>
        <p:spPr>
          <a:xfrm flipH="false" flipV="false" rot="0">
            <a:off x="11149483" y="9743005"/>
            <a:ext cx="4160892" cy="264784"/>
          </a:xfrm>
          <a:custGeom>
            <a:avLst/>
            <a:gdLst/>
            <a:ahLst/>
            <a:cxnLst/>
            <a:rect r="r" b="b" t="t" l="l"/>
            <a:pathLst>
              <a:path h="264784" w="4160892">
                <a:moveTo>
                  <a:pt x="0" y="0"/>
                </a:moveTo>
                <a:lnTo>
                  <a:pt x="4160892" y="0"/>
                </a:lnTo>
                <a:lnTo>
                  <a:pt x="4160892" y="264784"/>
                </a:lnTo>
                <a:lnTo>
                  <a:pt x="0" y="264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9" id="39"/>
          <p:cNvSpPr/>
          <p:nvPr/>
        </p:nvSpPr>
        <p:spPr>
          <a:xfrm flipH="false" flipV="false" rot="0">
            <a:off x="15205130" y="9743005"/>
            <a:ext cx="4160892" cy="264784"/>
          </a:xfrm>
          <a:custGeom>
            <a:avLst/>
            <a:gdLst/>
            <a:ahLst/>
            <a:cxnLst/>
            <a:rect r="r" b="b" t="t" l="l"/>
            <a:pathLst>
              <a:path h="264784" w="4160892">
                <a:moveTo>
                  <a:pt x="0" y="0"/>
                </a:moveTo>
                <a:lnTo>
                  <a:pt x="4160892" y="0"/>
                </a:lnTo>
                <a:lnTo>
                  <a:pt x="4160892" y="264784"/>
                </a:lnTo>
                <a:lnTo>
                  <a:pt x="0" y="2647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0" id="40"/>
          <p:cNvSpPr/>
          <p:nvPr/>
        </p:nvSpPr>
        <p:spPr>
          <a:xfrm flipH="false" flipV="false" rot="0">
            <a:off x="17032010" y="165028"/>
            <a:ext cx="1198840" cy="1257799"/>
          </a:xfrm>
          <a:custGeom>
            <a:avLst/>
            <a:gdLst/>
            <a:ahLst/>
            <a:cxnLst/>
            <a:rect r="r" b="b" t="t" l="l"/>
            <a:pathLst>
              <a:path h="1257799" w="1198840">
                <a:moveTo>
                  <a:pt x="0" y="0"/>
                </a:moveTo>
                <a:lnTo>
                  <a:pt x="1198840" y="0"/>
                </a:lnTo>
                <a:lnTo>
                  <a:pt x="1198840" y="1257800"/>
                </a:lnTo>
                <a:lnTo>
                  <a:pt x="0" y="1257800"/>
                </a:lnTo>
                <a:lnTo>
                  <a:pt x="0" y="0"/>
                </a:lnTo>
                <a:close/>
              </a:path>
            </a:pathLst>
          </a:custGeom>
          <a:blipFill>
            <a:blip r:embed="rId6"/>
            <a:stretch>
              <a:fillRect l="0" t="0" r="0" b="0"/>
            </a:stretch>
          </a:blipFill>
        </p:spPr>
      </p:sp>
      <p:sp>
        <p:nvSpPr>
          <p:cNvPr name="TextBox 41" id="41"/>
          <p:cNvSpPr txBox="true"/>
          <p:nvPr/>
        </p:nvSpPr>
        <p:spPr>
          <a:xfrm rot="0">
            <a:off x="-874831" y="13745"/>
            <a:ext cx="2684054" cy="669442"/>
          </a:xfrm>
          <a:prstGeom prst="rect">
            <a:avLst/>
          </a:prstGeom>
        </p:spPr>
        <p:txBody>
          <a:bodyPr anchor="t" rtlCol="false" tIns="0" lIns="0" bIns="0" rIns="0">
            <a:spAutoFit/>
          </a:bodyPr>
          <a:lstStyle/>
          <a:p>
            <a:pPr algn="r">
              <a:lnSpc>
                <a:spcPts val="5364"/>
              </a:lnSpc>
            </a:pPr>
            <a:r>
              <a:rPr lang="en-US" sz="3831" b="true">
                <a:solidFill>
                  <a:srgbClr val="124B3D"/>
                </a:solidFill>
                <a:latin typeface="TT Bluescreens Bold"/>
                <a:ea typeface="TT Bluescreens Bold"/>
                <a:cs typeface="TT Bluescreens Bold"/>
                <a:sym typeface="TT Bluescreens Bold"/>
              </a:rPr>
              <a:t>AgriWebHub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grpSp>
        <p:nvGrpSpPr>
          <p:cNvPr name="Group 2" id="2"/>
          <p:cNvGrpSpPr/>
          <p:nvPr/>
        </p:nvGrpSpPr>
        <p:grpSpPr>
          <a:xfrm rot="0">
            <a:off x="-708327" y="-83504"/>
            <a:ext cx="19877457" cy="877432"/>
            <a:chOff x="0" y="0"/>
            <a:chExt cx="5235215" cy="231093"/>
          </a:xfrm>
        </p:grpSpPr>
        <p:sp>
          <p:nvSpPr>
            <p:cNvPr name="Freeform 3" id="3"/>
            <p:cNvSpPr/>
            <p:nvPr/>
          </p:nvSpPr>
          <p:spPr>
            <a:xfrm flipH="false" flipV="false" rot="0">
              <a:off x="0" y="0"/>
              <a:ext cx="5235215" cy="231093"/>
            </a:xfrm>
            <a:custGeom>
              <a:avLst/>
              <a:gdLst/>
              <a:ahLst/>
              <a:cxnLst/>
              <a:rect r="r" b="b" t="t" l="l"/>
              <a:pathLst>
                <a:path h="231093" w="5235215">
                  <a:moveTo>
                    <a:pt x="36222" y="0"/>
                  </a:moveTo>
                  <a:lnTo>
                    <a:pt x="5198993" y="0"/>
                  </a:lnTo>
                  <a:cubicBezTo>
                    <a:pt x="5208600" y="0"/>
                    <a:pt x="5217813" y="3816"/>
                    <a:pt x="5224606" y="10609"/>
                  </a:cubicBezTo>
                  <a:cubicBezTo>
                    <a:pt x="5231399" y="17402"/>
                    <a:pt x="5235215" y="26615"/>
                    <a:pt x="5235215" y="36222"/>
                  </a:cubicBezTo>
                  <a:lnTo>
                    <a:pt x="5235215" y="194871"/>
                  </a:lnTo>
                  <a:cubicBezTo>
                    <a:pt x="5235215" y="204478"/>
                    <a:pt x="5231399" y="213691"/>
                    <a:pt x="5224606" y="220484"/>
                  </a:cubicBezTo>
                  <a:cubicBezTo>
                    <a:pt x="5217813" y="227277"/>
                    <a:pt x="5208600" y="231093"/>
                    <a:pt x="5198993" y="231093"/>
                  </a:cubicBezTo>
                  <a:lnTo>
                    <a:pt x="36222" y="231093"/>
                  </a:lnTo>
                  <a:cubicBezTo>
                    <a:pt x="26615" y="231093"/>
                    <a:pt x="17402" y="227277"/>
                    <a:pt x="10609" y="220484"/>
                  </a:cubicBezTo>
                  <a:cubicBezTo>
                    <a:pt x="3816" y="213691"/>
                    <a:pt x="0" y="204478"/>
                    <a:pt x="0" y="194871"/>
                  </a:cubicBezTo>
                  <a:lnTo>
                    <a:pt x="0" y="36222"/>
                  </a:lnTo>
                  <a:cubicBezTo>
                    <a:pt x="0" y="26615"/>
                    <a:pt x="3816" y="17402"/>
                    <a:pt x="10609" y="10609"/>
                  </a:cubicBezTo>
                  <a:cubicBezTo>
                    <a:pt x="17402" y="3816"/>
                    <a:pt x="26615" y="0"/>
                    <a:pt x="36222" y="0"/>
                  </a:cubicBezTo>
                  <a:close/>
                </a:path>
              </a:pathLst>
            </a:custGeom>
            <a:solidFill>
              <a:srgbClr val="B1D4C7"/>
            </a:solidFill>
            <a:ln w="28575" cap="rnd">
              <a:solidFill>
                <a:srgbClr val="262829"/>
              </a:solidFill>
              <a:prstDash val="solid"/>
              <a:round/>
            </a:ln>
          </p:spPr>
        </p:sp>
        <p:sp>
          <p:nvSpPr>
            <p:cNvPr name="TextBox 4" id="4"/>
            <p:cNvSpPr txBox="true"/>
            <p:nvPr/>
          </p:nvSpPr>
          <p:spPr>
            <a:xfrm>
              <a:off x="0" y="-47625"/>
              <a:ext cx="5235215" cy="27871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932853" y="132533"/>
            <a:ext cx="4422295" cy="517590"/>
            <a:chOff x="0" y="0"/>
            <a:chExt cx="1164720" cy="136320"/>
          </a:xfrm>
        </p:grpSpPr>
        <p:sp>
          <p:nvSpPr>
            <p:cNvPr name="Freeform 6" id="6"/>
            <p:cNvSpPr/>
            <p:nvPr/>
          </p:nvSpPr>
          <p:spPr>
            <a:xfrm flipH="false" flipV="false" rot="0">
              <a:off x="0" y="0"/>
              <a:ext cx="1164720" cy="136320"/>
            </a:xfrm>
            <a:custGeom>
              <a:avLst/>
              <a:gdLst/>
              <a:ahLst/>
              <a:cxnLst/>
              <a:rect r="r" b="b" t="t" l="l"/>
              <a:pathLst>
                <a:path h="136320" w="1164720">
                  <a:moveTo>
                    <a:pt x="68160" y="0"/>
                  </a:moveTo>
                  <a:lnTo>
                    <a:pt x="1096560" y="0"/>
                  </a:lnTo>
                  <a:cubicBezTo>
                    <a:pt x="1134203" y="0"/>
                    <a:pt x="1164720" y="30516"/>
                    <a:pt x="1164720" y="68160"/>
                  </a:cubicBezTo>
                  <a:lnTo>
                    <a:pt x="1164720" y="68160"/>
                  </a:lnTo>
                  <a:cubicBezTo>
                    <a:pt x="1164720" y="105804"/>
                    <a:pt x="1134203" y="136320"/>
                    <a:pt x="1096560" y="136320"/>
                  </a:cubicBezTo>
                  <a:lnTo>
                    <a:pt x="68160" y="136320"/>
                  </a:lnTo>
                  <a:cubicBezTo>
                    <a:pt x="30516" y="136320"/>
                    <a:pt x="0" y="105804"/>
                    <a:pt x="0" y="68160"/>
                  </a:cubicBezTo>
                  <a:lnTo>
                    <a:pt x="0" y="68160"/>
                  </a:lnTo>
                  <a:cubicBezTo>
                    <a:pt x="0" y="30516"/>
                    <a:pt x="30516" y="0"/>
                    <a:pt x="68160" y="0"/>
                  </a:cubicBezTo>
                  <a:close/>
                </a:path>
              </a:pathLst>
            </a:custGeom>
            <a:solidFill>
              <a:srgbClr val="F0F4D4"/>
            </a:solidFill>
            <a:ln w="28575" cap="rnd">
              <a:solidFill>
                <a:srgbClr val="262829"/>
              </a:solidFill>
              <a:prstDash val="solid"/>
              <a:round/>
            </a:ln>
          </p:spPr>
        </p:sp>
        <p:sp>
          <p:nvSpPr>
            <p:cNvPr name="TextBox 7" id="7"/>
            <p:cNvSpPr txBox="true"/>
            <p:nvPr/>
          </p:nvSpPr>
          <p:spPr>
            <a:xfrm>
              <a:off x="0" y="-47625"/>
              <a:ext cx="1164720" cy="18394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50591" y="3041372"/>
            <a:ext cx="17359620" cy="6595387"/>
            <a:chOff x="0" y="0"/>
            <a:chExt cx="4572081" cy="1737057"/>
          </a:xfrm>
        </p:grpSpPr>
        <p:sp>
          <p:nvSpPr>
            <p:cNvPr name="Freeform 9" id="9"/>
            <p:cNvSpPr/>
            <p:nvPr/>
          </p:nvSpPr>
          <p:spPr>
            <a:xfrm flipH="false" flipV="false" rot="0">
              <a:off x="0" y="0"/>
              <a:ext cx="4572081" cy="1737057"/>
            </a:xfrm>
            <a:custGeom>
              <a:avLst/>
              <a:gdLst/>
              <a:ahLst/>
              <a:cxnLst/>
              <a:rect r="r" b="b" t="t" l="l"/>
              <a:pathLst>
                <a:path h="1737057" w="4572081">
                  <a:moveTo>
                    <a:pt x="41475" y="0"/>
                  </a:moveTo>
                  <a:lnTo>
                    <a:pt x="4530606" y="0"/>
                  </a:lnTo>
                  <a:cubicBezTo>
                    <a:pt x="4541605" y="0"/>
                    <a:pt x="4552155" y="4370"/>
                    <a:pt x="4559933" y="12148"/>
                  </a:cubicBezTo>
                  <a:cubicBezTo>
                    <a:pt x="4567711" y="19926"/>
                    <a:pt x="4572081" y="30475"/>
                    <a:pt x="4572081" y="41475"/>
                  </a:cubicBezTo>
                  <a:lnTo>
                    <a:pt x="4572081" y="1695581"/>
                  </a:lnTo>
                  <a:cubicBezTo>
                    <a:pt x="4572081" y="1706581"/>
                    <a:pt x="4567711" y="1717131"/>
                    <a:pt x="4559933" y="1724909"/>
                  </a:cubicBezTo>
                  <a:cubicBezTo>
                    <a:pt x="4552155" y="1732687"/>
                    <a:pt x="4541605" y="1737057"/>
                    <a:pt x="4530606" y="1737057"/>
                  </a:cubicBezTo>
                  <a:lnTo>
                    <a:pt x="41475" y="1737057"/>
                  </a:lnTo>
                  <a:cubicBezTo>
                    <a:pt x="30475" y="1737057"/>
                    <a:pt x="19926" y="1732687"/>
                    <a:pt x="12148" y="1724909"/>
                  </a:cubicBezTo>
                  <a:cubicBezTo>
                    <a:pt x="4370" y="1717131"/>
                    <a:pt x="0" y="1706581"/>
                    <a:pt x="0" y="1695581"/>
                  </a:cubicBezTo>
                  <a:lnTo>
                    <a:pt x="0" y="41475"/>
                  </a:lnTo>
                  <a:cubicBezTo>
                    <a:pt x="0" y="30475"/>
                    <a:pt x="4370" y="19926"/>
                    <a:pt x="12148" y="12148"/>
                  </a:cubicBezTo>
                  <a:cubicBezTo>
                    <a:pt x="19926" y="4370"/>
                    <a:pt x="30475" y="0"/>
                    <a:pt x="41475" y="0"/>
                  </a:cubicBezTo>
                  <a:close/>
                </a:path>
              </a:pathLst>
            </a:custGeom>
            <a:solidFill>
              <a:srgbClr val="000000">
                <a:alpha val="0"/>
              </a:srgbClr>
            </a:solidFill>
            <a:ln w="28575" cap="rnd">
              <a:solidFill>
                <a:srgbClr val="262829"/>
              </a:solidFill>
              <a:prstDash val="solid"/>
              <a:round/>
            </a:ln>
          </p:spPr>
        </p:sp>
        <p:sp>
          <p:nvSpPr>
            <p:cNvPr name="TextBox 10" id="10"/>
            <p:cNvSpPr txBox="true"/>
            <p:nvPr/>
          </p:nvSpPr>
          <p:spPr>
            <a:xfrm>
              <a:off x="0" y="-47625"/>
              <a:ext cx="4572081" cy="17846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49551" y="1184335"/>
            <a:ext cx="958895" cy="958895"/>
          </a:xfrm>
          <a:custGeom>
            <a:avLst/>
            <a:gdLst/>
            <a:ahLst/>
            <a:cxnLst/>
            <a:rect r="r" b="b" t="t" l="l"/>
            <a:pathLst>
              <a:path h="958895" w="958895">
                <a:moveTo>
                  <a:pt x="0" y="0"/>
                </a:moveTo>
                <a:lnTo>
                  <a:pt x="958895" y="0"/>
                </a:lnTo>
                <a:lnTo>
                  <a:pt x="958895" y="958895"/>
                </a:lnTo>
                <a:lnTo>
                  <a:pt x="0" y="9588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930320" y="1279427"/>
            <a:ext cx="7857438" cy="1410217"/>
            <a:chOff x="0" y="0"/>
            <a:chExt cx="2069449" cy="371415"/>
          </a:xfrm>
        </p:grpSpPr>
        <p:sp>
          <p:nvSpPr>
            <p:cNvPr name="Freeform 13" id="13"/>
            <p:cNvSpPr/>
            <p:nvPr/>
          </p:nvSpPr>
          <p:spPr>
            <a:xfrm flipH="false" flipV="false" rot="0">
              <a:off x="0" y="0"/>
              <a:ext cx="2069449" cy="371415"/>
            </a:xfrm>
            <a:custGeom>
              <a:avLst/>
              <a:gdLst/>
              <a:ahLst/>
              <a:cxnLst/>
              <a:rect r="r" b="b" t="t" l="l"/>
              <a:pathLst>
                <a:path h="371415" w="2069449">
                  <a:moveTo>
                    <a:pt x="91633" y="0"/>
                  </a:moveTo>
                  <a:lnTo>
                    <a:pt x="1977816" y="0"/>
                  </a:lnTo>
                  <a:cubicBezTo>
                    <a:pt x="2002119" y="0"/>
                    <a:pt x="2025426" y="9654"/>
                    <a:pt x="2042610" y="26839"/>
                  </a:cubicBezTo>
                  <a:cubicBezTo>
                    <a:pt x="2059795" y="44023"/>
                    <a:pt x="2069449" y="67330"/>
                    <a:pt x="2069449" y="91633"/>
                  </a:cubicBezTo>
                  <a:lnTo>
                    <a:pt x="2069449" y="279782"/>
                  </a:lnTo>
                  <a:cubicBezTo>
                    <a:pt x="2069449" y="304085"/>
                    <a:pt x="2059795" y="327392"/>
                    <a:pt x="2042610" y="344577"/>
                  </a:cubicBezTo>
                  <a:cubicBezTo>
                    <a:pt x="2025426" y="361761"/>
                    <a:pt x="2002119" y="371415"/>
                    <a:pt x="1977816" y="371415"/>
                  </a:cubicBezTo>
                  <a:lnTo>
                    <a:pt x="91633" y="371415"/>
                  </a:lnTo>
                  <a:cubicBezTo>
                    <a:pt x="67330" y="371415"/>
                    <a:pt x="44023" y="361761"/>
                    <a:pt x="26839" y="344577"/>
                  </a:cubicBezTo>
                  <a:cubicBezTo>
                    <a:pt x="9654" y="327392"/>
                    <a:pt x="0" y="304085"/>
                    <a:pt x="0" y="279782"/>
                  </a:cubicBezTo>
                  <a:lnTo>
                    <a:pt x="0" y="91633"/>
                  </a:lnTo>
                  <a:cubicBezTo>
                    <a:pt x="0" y="67330"/>
                    <a:pt x="9654" y="44023"/>
                    <a:pt x="26839" y="26839"/>
                  </a:cubicBezTo>
                  <a:cubicBezTo>
                    <a:pt x="44023" y="9654"/>
                    <a:pt x="67330" y="0"/>
                    <a:pt x="91633" y="0"/>
                  </a:cubicBezTo>
                  <a:close/>
                </a:path>
              </a:pathLst>
            </a:custGeom>
            <a:solidFill>
              <a:srgbClr val="F0F4D4"/>
            </a:solidFill>
            <a:ln w="28575" cap="rnd">
              <a:solidFill>
                <a:srgbClr val="262829"/>
              </a:solidFill>
              <a:prstDash val="solid"/>
              <a:round/>
            </a:ln>
          </p:spPr>
        </p:sp>
        <p:sp>
          <p:nvSpPr>
            <p:cNvPr name="TextBox 14" id="14"/>
            <p:cNvSpPr txBox="true"/>
            <p:nvPr/>
          </p:nvSpPr>
          <p:spPr>
            <a:xfrm>
              <a:off x="0" y="-47625"/>
              <a:ext cx="2069449" cy="41904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5345959" y="974785"/>
            <a:ext cx="7026160" cy="1809950"/>
          </a:xfrm>
          <a:prstGeom prst="rect">
            <a:avLst/>
          </a:prstGeom>
        </p:spPr>
        <p:txBody>
          <a:bodyPr anchor="t" rtlCol="false" tIns="0" lIns="0" bIns="0" rIns="0">
            <a:spAutoFit/>
          </a:bodyPr>
          <a:lstStyle/>
          <a:p>
            <a:pPr algn="ctr">
              <a:lnSpc>
                <a:spcPts val="14756"/>
              </a:lnSpc>
            </a:pPr>
            <a:r>
              <a:rPr lang="en-US" sz="10540" b="true">
                <a:solidFill>
                  <a:srgbClr val="124B3D"/>
                </a:solidFill>
                <a:latin typeface="TT Bluescreens Bold"/>
                <a:ea typeface="TT Bluescreens Bold"/>
                <a:cs typeface="TT Bluescreens Bold"/>
                <a:sym typeface="TT Bluescreens Bold"/>
              </a:rPr>
              <a:t>Functionality</a:t>
            </a:r>
          </a:p>
        </p:txBody>
      </p:sp>
      <p:sp>
        <p:nvSpPr>
          <p:cNvPr name="Freeform 16" id="16"/>
          <p:cNvSpPr/>
          <p:nvPr/>
        </p:nvSpPr>
        <p:spPr>
          <a:xfrm flipH="false" flipV="false" rot="0">
            <a:off x="16817217" y="3297096"/>
            <a:ext cx="954176" cy="954176"/>
          </a:xfrm>
          <a:custGeom>
            <a:avLst/>
            <a:gdLst/>
            <a:ahLst/>
            <a:cxnLst/>
            <a:rect r="r" b="b" t="t" l="l"/>
            <a:pathLst>
              <a:path h="954176" w="954176">
                <a:moveTo>
                  <a:pt x="0" y="0"/>
                </a:moveTo>
                <a:lnTo>
                  <a:pt x="954176" y="0"/>
                </a:lnTo>
                <a:lnTo>
                  <a:pt x="954176" y="954177"/>
                </a:lnTo>
                <a:lnTo>
                  <a:pt x="0" y="954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8510902" y="158462"/>
            <a:ext cx="1266196" cy="388207"/>
          </a:xfrm>
          <a:prstGeom prst="rect">
            <a:avLst/>
          </a:prstGeom>
        </p:spPr>
        <p:txBody>
          <a:bodyPr anchor="t" rtlCol="false" tIns="0" lIns="0" bIns="0" rIns="0">
            <a:spAutoFit/>
          </a:bodyPr>
          <a:lstStyle/>
          <a:p>
            <a:pPr algn="just">
              <a:lnSpc>
                <a:spcPts val="3277"/>
              </a:lnSpc>
            </a:pPr>
            <a:r>
              <a:rPr lang="en-US" sz="2341">
                <a:solidFill>
                  <a:srgbClr val="262829"/>
                </a:solidFill>
                <a:latin typeface="Noto Sans"/>
                <a:ea typeface="Noto Sans"/>
                <a:cs typeface="Noto Sans"/>
                <a:sym typeface="Noto Sans"/>
              </a:rPr>
              <a:t>Page 05</a:t>
            </a:r>
          </a:p>
        </p:txBody>
      </p:sp>
      <p:sp>
        <p:nvSpPr>
          <p:cNvPr name="TextBox 18" id="18"/>
          <p:cNvSpPr txBox="true"/>
          <p:nvPr/>
        </p:nvSpPr>
        <p:spPr>
          <a:xfrm rot="0">
            <a:off x="1494987" y="3726559"/>
            <a:ext cx="15298025" cy="6377387"/>
          </a:xfrm>
          <a:prstGeom prst="rect">
            <a:avLst/>
          </a:prstGeom>
        </p:spPr>
        <p:txBody>
          <a:bodyPr anchor="t" rtlCol="false" tIns="0" lIns="0" bIns="0" rIns="0">
            <a:spAutoFit/>
          </a:bodyPr>
          <a:lstStyle/>
          <a:p>
            <a:pPr algn="just">
              <a:lnSpc>
                <a:spcPts val="3840"/>
              </a:lnSpc>
            </a:pPr>
            <a:r>
              <a:rPr lang="en-US" b="true" sz="2743" spc="-54">
                <a:solidFill>
                  <a:srgbClr val="262829"/>
                </a:solidFill>
                <a:latin typeface="Noto Sans Bold"/>
                <a:ea typeface="Noto Sans Bold"/>
                <a:cs typeface="Noto Sans Bold"/>
                <a:sym typeface="Noto Sans Bold"/>
              </a:rPr>
              <a:t>1. Add Farmer</a:t>
            </a:r>
          </a:p>
          <a:p>
            <a:pPr algn="just">
              <a:lnSpc>
                <a:spcPts val="3840"/>
              </a:lnSpc>
            </a:pPr>
            <a:r>
              <a:rPr lang="en-US" b="true" sz="2743" spc="-54">
                <a:solidFill>
                  <a:srgbClr val="262829"/>
                </a:solidFill>
                <a:latin typeface="Noto Sans Bold"/>
                <a:ea typeface="Noto Sans Bold"/>
                <a:cs typeface="Noto Sans Bold"/>
                <a:sym typeface="Noto Sans Bold"/>
              </a:rPr>
              <a:t>Farmers can create profiles with details about themselves and their products. This increases their visibility and allows them to share information about what they offer.</a:t>
            </a:r>
          </a:p>
          <a:p>
            <a:pPr algn="just">
              <a:lnSpc>
                <a:spcPts val="3840"/>
              </a:lnSpc>
            </a:pPr>
          </a:p>
          <a:p>
            <a:pPr algn="just">
              <a:lnSpc>
                <a:spcPts val="3840"/>
              </a:lnSpc>
            </a:pPr>
            <a:r>
              <a:rPr lang="en-US" b="true" sz="2743" spc="-54">
                <a:solidFill>
                  <a:srgbClr val="262829"/>
                </a:solidFill>
                <a:latin typeface="Noto Sans Bold"/>
                <a:ea typeface="Noto Sans Bold"/>
                <a:cs typeface="Noto Sans Bold"/>
                <a:sym typeface="Noto Sans Bold"/>
              </a:rPr>
              <a:t>2. </a:t>
            </a:r>
            <a:r>
              <a:rPr lang="en-US" b="true" sz="2743" spc="-54">
                <a:solidFill>
                  <a:srgbClr val="262829"/>
                </a:solidFill>
                <a:latin typeface="Noto Sans Bold"/>
                <a:ea typeface="Noto Sans Bold"/>
                <a:cs typeface="Noto Sans Bold"/>
                <a:sym typeface="Noto Sans Bold"/>
              </a:rPr>
              <a:t>Add Consumer</a:t>
            </a:r>
          </a:p>
          <a:p>
            <a:pPr algn="just">
              <a:lnSpc>
                <a:spcPts val="3840"/>
              </a:lnSpc>
            </a:pPr>
            <a:r>
              <a:rPr lang="en-US" b="true" sz="2743" spc="-54">
                <a:solidFill>
                  <a:srgbClr val="262829"/>
                </a:solidFill>
                <a:latin typeface="Noto Sans Bold"/>
                <a:ea typeface="Noto Sans Bold"/>
                <a:cs typeface="Noto Sans Bold"/>
                <a:sym typeface="Noto Sans Bold"/>
              </a:rPr>
              <a:t>Consumers can register profiles to show their interests. When someone searches for a farmer or consumer, they can view their information and contact them manually.</a:t>
            </a:r>
          </a:p>
          <a:p>
            <a:pPr algn="just">
              <a:lnSpc>
                <a:spcPts val="3840"/>
              </a:lnSpc>
            </a:pPr>
          </a:p>
          <a:p>
            <a:pPr algn="just">
              <a:lnSpc>
                <a:spcPts val="3840"/>
              </a:lnSpc>
            </a:pPr>
            <a:r>
              <a:rPr lang="en-US" b="true" sz="2743" spc="-54">
                <a:solidFill>
                  <a:srgbClr val="262829"/>
                </a:solidFill>
                <a:latin typeface="Noto Sans Bold"/>
                <a:ea typeface="Noto Sans Bold"/>
                <a:cs typeface="Noto Sans Bold"/>
                <a:sym typeface="Noto Sans Bold"/>
              </a:rPr>
              <a:t>3. Calculate MSP (Minimum Support Price)</a:t>
            </a:r>
          </a:p>
          <a:p>
            <a:pPr algn="just">
              <a:lnSpc>
                <a:spcPts val="3840"/>
              </a:lnSpc>
            </a:pPr>
            <a:r>
              <a:rPr lang="en-US" b="true" sz="2743" spc="-54">
                <a:solidFill>
                  <a:srgbClr val="262829"/>
                </a:solidFill>
                <a:latin typeface="Noto Sans Bold"/>
                <a:ea typeface="Noto Sans Bold"/>
                <a:cs typeface="Noto Sans Bold"/>
                <a:sym typeface="Noto Sans Bold"/>
              </a:rPr>
              <a:t>The MSP calculator helps farmers determine the minimum price they should receive for their crops, based on production costs and market trends.</a:t>
            </a:r>
          </a:p>
          <a:p>
            <a:pPr algn="just">
              <a:lnSpc>
                <a:spcPts val="3840"/>
              </a:lnSpc>
            </a:pPr>
          </a:p>
          <a:p>
            <a:pPr algn="just">
              <a:lnSpc>
                <a:spcPts val="5211"/>
              </a:lnSpc>
            </a:pPr>
          </a:p>
        </p:txBody>
      </p:sp>
      <p:sp>
        <p:nvSpPr>
          <p:cNvPr name="Freeform 19" id="19"/>
          <p:cNvSpPr/>
          <p:nvPr/>
        </p:nvSpPr>
        <p:spPr>
          <a:xfrm flipH="false" flipV="false" rot="0">
            <a:off x="17032010" y="165028"/>
            <a:ext cx="1198840" cy="1257799"/>
          </a:xfrm>
          <a:custGeom>
            <a:avLst/>
            <a:gdLst/>
            <a:ahLst/>
            <a:cxnLst/>
            <a:rect r="r" b="b" t="t" l="l"/>
            <a:pathLst>
              <a:path h="1257799" w="1198840">
                <a:moveTo>
                  <a:pt x="0" y="0"/>
                </a:moveTo>
                <a:lnTo>
                  <a:pt x="1198840" y="0"/>
                </a:lnTo>
                <a:lnTo>
                  <a:pt x="1198840" y="1257800"/>
                </a:lnTo>
                <a:lnTo>
                  <a:pt x="0" y="1257800"/>
                </a:lnTo>
                <a:lnTo>
                  <a:pt x="0" y="0"/>
                </a:lnTo>
                <a:close/>
              </a:path>
            </a:pathLst>
          </a:custGeom>
          <a:blipFill>
            <a:blip r:embed="rId6"/>
            <a:stretch>
              <a:fillRect l="0" t="0" r="0" b="0"/>
            </a:stretch>
          </a:blipFill>
        </p:spPr>
      </p:sp>
      <p:sp>
        <p:nvSpPr>
          <p:cNvPr name="TextBox 20" id="20"/>
          <p:cNvSpPr txBox="true"/>
          <p:nvPr/>
        </p:nvSpPr>
        <p:spPr>
          <a:xfrm rot="0">
            <a:off x="-874831" y="13745"/>
            <a:ext cx="2684054" cy="669442"/>
          </a:xfrm>
          <a:prstGeom prst="rect">
            <a:avLst/>
          </a:prstGeom>
        </p:spPr>
        <p:txBody>
          <a:bodyPr anchor="t" rtlCol="false" tIns="0" lIns="0" bIns="0" rIns="0">
            <a:spAutoFit/>
          </a:bodyPr>
          <a:lstStyle/>
          <a:p>
            <a:pPr algn="r">
              <a:lnSpc>
                <a:spcPts val="5364"/>
              </a:lnSpc>
            </a:pPr>
            <a:r>
              <a:rPr lang="en-US" sz="3831" b="true">
                <a:solidFill>
                  <a:srgbClr val="124B3D"/>
                </a:solidFill>
                <a:latin typeface="TT Bluescreens Bold"/>
                <a:ea typeface="TT Bluescreens Bold"/>
                <a:cs typeface="TT Bluescreens Bold"/>
                <a:sym typeface="TT Bluescreens Bold"/>
              </a:rPr>
              <a:t>AgriWebHub</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grpSp>
        <p:nvGrpSpPr>
          <p:cNvPr name="Group 2" id="2"/>
          <p:cNvGrpSpPr/>
          <p:nvPr/>
        </p:nvGrpSpPr>
        <p:grpSpPr>
          <a:xfrm rot="0">
            <a:off x="-708327" y="-83504"/>
            <a:ext cx="19877457" cy="877432"/>
            <a:chOff x="0" y="0"/>
            <a:chExt cx="5235215" cy="231093"/>
          </a:xfrm>
        </p:grpSpPr>
        <p:sp>
          <p:nvSpPr>
            <p:cNvPr name="Freeform 3" id="3"/>
            <p:cNvSpPr/>
            <p:nvPr/>
          </p:nvSpPr>
          <p:spPr>
            <a:xfrm flipH="false" flipV="false" rot="0">
              <a:off x="0" y="0"/>
              <a:ext cx="5235215" cy="231093"/>
            </a:xfrm>
            <a:custGeom>
              <a:avLst/>
              <a:gdLst/>
              <a:ahLst/>
              <a:cxnLst/>
              <a:rect r="r" b="b" t="t" l="l"/>
              <a:pathLst>
                <a:path h="231093" w="5235215">
                  <a:moveTo>
                    <a:pt x="36222" y="0"/>
                  </a:moveTo>
                  <a:lnTo>
                    <a:pt x="5198993" y="0"/>
                  </a:lnTo>
                  <a:cubicBezTo>
                    <a:pt x="5208600" y="0"/>
                    <a:pt x="5217813" y="3816"/>
                    <a:pt x="5224606" y="10609"/>
                  </a:cubicBezTo>
                  <a:cubicBezTo>
                    <a:pt x="5231399" y="17402"/>
                    <a:pt x="5235215" y="26615"/>
                    <a:pt x="5235215" y="36222"/>
                  </a:cubicBezTo>
                  <a:lnTo>
                    <a:pt x="5235215" y="194871"/>
                  </a:lnTo>
                  <a:cubicBezTo>
                    <a:pt x="5235215" y="204478"/>
                    <a:pt x="5231399" y="213691"/>
                    <a:pt x="5224606" y="220484"/>
                  </a:cubicBezTo>
                  <a:cubicBezTo>
                    <a:pt x="5217813" y="227277"/>
                    <a:pt x="5208600" y="231093"/>
                    <a:pt x="5198993" y="231093"/>
                  </a:cubicBezTo>
                  <a:lnTo>
                    <a:pt x="36222" y="231093"/>
                  </a:lnTo>
                  <a:cubicBezTo>
                    <a:pt x="26615" y="231093"/>
                    <a:pt x="17402" y="227277"/>
                    <a:pt x="10609" y="220484"/>
                  </a:cubicBezTo>
                  <a:cubicBezTo>
                    <a:pt x="3816" y="213691"/>
                    <a:pt x="0" y="204478"/>
                    <a:pt x="0" y="194871"/>
                  </a:cubicBezTo>
                  <a:lnTo>
                    <a:pt x="0" y="36222"/>
                  </a:lnTo>
                  <a:cubicBezTo>
                    <a:pt x="0" y="26615"/>
                    <a:pt x="3816" y="17402"/>
                    <a:pt x="10609" y="10609"/>
                  </a:cubicBezTo>
                  <a:cubicBezTo>
                    <a:pt x="17402" y="3816"/>
                    <a:pt x="26615" y="0"/>
                    <a:pt x="36222" y="0"/>
                  </a:cubicBezTo>
                  <a:close/>
                </a:path>
              </a:pathLst>
            </a:custGeom>
            <a:solidFill>
              <a:srgbClr val="B1D4C7"/>
            </a:solidFill>
            <a:ln w="28575" cap="rnd">
              <a:solidFill>
                <a:srgbClr val="262829"/>
              </a:solidFill>
              <a:prstDash val="solid"/>
              <a:round/>
            </a:ln>
          </p:spPr>
        </p:sp>
        <p:sp>
          <p:nvSpPr>
            <p:cNvPr name="TextBox 4" id="4"/>
            <p:cNvSpPr txBox="true"/>
            <p:nvPr/>
          </p:nvSpPr>
          <p:spPr>
            <a:xfrm>
              <a:off x="0" y="-47625"/>
              <a:ext cx="5235215" cy="27871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932853" y="132533"/>
            <a:ext cx="4422295" cy="517590"/>
            <a:chOff x="0" y="0"/>
            <a:chExt cx="1164720" cy="136320"/>
          </a:xfrm>
        </p:grpSpPr>
        <p:sp>
          <p:nvSpPr>
            <p:cNvPr name="Freeform 6" id="6"/>
            <p:cNvSpPr/>
            <p:nvPr/>
          </p:nvSpPr>
          <p:spPr>
            <a:xfrm flipH="false" flipV="false" rot="0">
              <a:off x="0" y="0"/>
              <a:ext cx="1164720" cy="136320"/>
            </a:xfrm>
            <a:custGeom>
              <a:avLst/>
              <a:gdLst/>
              <a:ahLst/>
              <a:cxnLst/>
              <a:rect r="r" b="b" t="t" l="l"/>
              <a:pathLst>
                <a:path h="136320" w="1164720">
                  <a:moveTo>
                    <a:pt x="68160" y="0"/>
                  </a:moveTo>
                  <a:lnTo>
                    <a:pt x="1096560" y="0"/>
                  </a:lnTo>
                  <a:cubicBezTo>
                    <a:pt x="1134203" y="0"/>
                    <a:pt x="1164720" y="30516"/>
                    <a:pt x="1164720" y="68160"/>
                  </a:cubicBezTo>
                  <a:lnTo>
                    <a:pt x="1164720" y="68160"/>
                  </a:lnTo>
                  <a:cubicBezTo>
                    <a:pt x="1164720" y="105804"/>
                    <a:pt x="1134203" y="136320"/>
                    <a:pt x="1096560" y="136320"/>
                  </a:cubicBezTo>
                  <a:lnTo>
                    <a:pt x="68160" y="136320"/>
                  </a:lnTo>
                  <a:cubicBezTo>
                    <a:pt x="30516" y="136320"/>
                    <a:pt x="0" y="105804"/>
                    <a:pt x="0" y="68160"/>
                  </a:cubicBezTo>
                  <a:lnTo>
                    <a:pt x="0" y="68160"/>
                  </a:lnTo>
                  <a:cubicBezTo>
                    <a:pt x="0" y="30516"/>
                    <a:pt x="30516" y="0"/>
                    <a:pt x="68160" y="0"/>
                  </a:cubicBezTo>
                  <a:close/>
                </a:path>
              </a:pathLst>
            </a:custGeom>
            <a:solidFill>
              <a:srgbClr val="F0F4D4"/>
            </a:solidFill>
            <a:ln w="28575" cap="rnd">
              <a:solidFill>
                <a:srgbClr val="262829"/>
              </a:solidFill>
              <a:prstDash val="solid"/>
              <a:round/>
            </a:ln>
          </p:spPr>
        </p:sp>
        <p:sp>
          <p:nvSpPr>
            <p:cNvPr name="TextBox 7" id="7"/>
            <p:cNvSpPr txBox="true"/>
            <p:nvPr/>
          </p:nvSpPr>
          <p:spPr>
            <a:xfrm>
              <a:off x="0" y="-47625"/>
              <a:ext cx="1164720" cy="18394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50591" y="3041372"/>
            <a:ext cx="17359620" cy="6595387"/>
            <a:chOff x="0" y="0"/>
            <a:chExt cx="4572081" cy="1737057"/>
          </a:xfrm>
        </p:grpSpPr>
        <p:sp>
          <p:nvSpPr>
            <p:cNvPr name="Freeform 9" id="9"/>
            <p:cNvSpPr/>
            <p:nvPr/>
          </p:nvSpPr>
          <p:spPr>
            <a:xfrm flipH="false" flipV="false" rot="0">
              <a:off x="0" y="0"/>
              <a:ext cx="4572081" cy="1737057"/>
            </a:xfrm>
            <a:custGeom>
              <a:avLst/>
              <a:gdLst/>
              <a:ahLst/>
              <a:cxnLst/>
              <a:rect r="r" b="b" t="t" l="l"/>
              <a:pathLst>
                <a:path h="1737057" w="4572081">
                  <a:moveTo>
                    <a:pt x="41475" y="0"/>
                  </a:moveTo>
                  <a:lnTo>
                    <a:pt x="4530606" y="0"/>
                  </a:lnTo>
                  <a:cubicBezTo>
                    <a:pt x="4541605" y="0"/>
                    <a:pt x="4552155" y="4370"/>
                    <a:pt x="4559933" y="12148"/>
                  </a:cubicBezTo>
                  <a:cubicBezTo>
                    <a:pt x="4567711" y="19926"/>
                    <a:pt x="4572081" y="30475"/>
                    <a:pt x="4572081" y="41475"/>
                  </a:cubicBezTo>
                  <a:lnTo>
                    <a:pt x="4572081" y="1695581"/>
                  </a:lnTo>
                  <a:cubicBezTo>
                    <a:pt x="4572081" y="1706581"/>
                    <a:pt x="4567711" y="1717131"/>
                    <a:pt x="4559933" y="1724909"/>
                  </a:cubicBezTo>
                  <a:cubicBezTo>
                    <a:pt x="4552155" y="1732687"/>
                    <a:pt x="4541605" y="1737057"/>
                    <a:pt x="4530606" y="1737057"/>
                  </a:cubicBezTo>
                  <a:lnTo>
                    <a:pt x="41475" y="1737057"/>
                  </a:lnTo>
                  <a:cubicBezTo>
                    <a:pt x="30475" y="1737057"/>
                    <a:pt x="19926" y="1732687"/>
                    <a:pt x="12148" y="1724909"/>
                  </a:cubicBezTo>
                  <a:cubicBezTo>
                    <a:pt x="4370" y="1717131"/>
                    <a:pt x="0" y="1706581"/>
                    <a:pt x="0" y="1695581"/>
                  </a:cubicBezTo>
                  <a:lnTo>
                    <a:pt x="0" y="41475"/>
                  </a:lnTo>
                  <a:cubicBezTo>
                    <a:pt x="0" y="30475"/>
                    <a:pt x="4370" y="19926"/>
                    <a:pt x="12148" y="12148"/>
                  </a:cubicBezTo>
                  <a:cubicBezTo>
                    <a:pt x="19926" y="4370"/>
                    <a:pt x="30475" y="0"/>
                    <a:pt x="41475" y="0"/>
                  </a:cubicBezTo>
                  <a:close/>
                </a:path>
              </a:pathLst>
            </a:custGeom>
            <a:solidFill>
              <a:srgbClr val="000000">
                <a:alpha val="0"/>
              </a:srgbClr>
            </a:solidFill>
            <a:ln w="28575" cap="rnd">
              <a:solidFill>
                <a:srgbClr val="262829"/>
              </a:solidFill>
              <a:prstDash val="solid"/>
              <a:round/>
            </a:ln>
          </p:spPr>
        </p:sp>
        <p:sp>
          <p:nvSpPr>
            <p:cNvPr name="TextBox 10" id="10"/>
            <p:cNvSpPr txBox="true"/>
            <p:nvPr/>
          </p:nvSpPr>
          <p:spPr>
            <a:xfrm>
              <a:off x="0" y="-47625"/>
              <a:ext cx="4572081" cy="178468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49551" y="1184335"/>
            <a:ext cx="958895" cy="958895"/>
          </a:xfrm>
          <a:custGeom>
            <a:avLst/>
            <a:gdLst/>
            <a:ahLst/>
            <a:cxnLst/>
            <a:rect r="r" b="b" t="t" l="l"/>
            <a:pathLst>
              <a:path h="958895" w="958895">
                <a:moveTo>
                  <a:pt x="0" y="0"/>
                </a:moveTo>
                <a:lnTo>
                  <a:pt x="958895" y="0"/>
                </a:lnTo>
                <a:lnTo>
                  <a:pt x="958895" y="958895"/>
                </a:lnTo>
                <a:lnTo>
                  <a:pt x="0" y="9588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930320" y="1279427"/>
            <a:ext cx="7857438" cy="1410217"/>
            <a:chOff x="0" y="0"/>
            <a:chExt cx="2069449" cy="371415"/>
          </a:xfrm>
        </p:grpSpPr>
        <p:sp>
          <p:nvSpPr>
            <p:cNvPr name="Freeform 13" id="13"/>
            <p:cNvSpPr/>
            <p:nvPr/>
          </p:nvSpPr>
          <p:spPr>
            <a:xfrm flipH="false" flipV="false" rot="0">
              <a:off x="0" y="0"/>
              <a:ext cx="2069449" cy="371415"/>
            </a:xfrm>
            <a:custGeom>
              <a:avLst/>
              <a:gdLst/>
              <a:ahLst/>
              <a:cxnLst/>
              <a:rect r="r" b="b" t="t" l="l"/>
              <a:pathLst>
                <a:path h="371415" w="2069449">
                  <a:moveTo>
                    <a:pt x="91633" y="0"/>
                  </a:moveTo>
                  <a:lnTo>
                    <a:pt x="1977816" y="0"/>
                  </a:lnTo>
                  <a:cubicBezTo>
                    <a:pt x="2002119" y="0"/>
                    <a:pt x="2025426" y="9654"/>
                    <a:pt x="2042610" y="26839"/>
                  </a:cubicBezTo>
                  <a:cubicBezTo>
                    <a:pt x="2059795" y="44023"/>
                    <a:pt x="2069449" y="67330"/>
                    <a:pt x="2069449" y="91633"/>
                  </a:cubicBezTo>
                  <a:lnTo>
                    <a:pt x="2069449" y="279782"/>
                  </a:lnTo>
                  <a:cubicBezTo>
                    <a:pt x="2069449" y="304085"/>
                    <a:pt x="2059795" y="327392"/>
                    <a:pt x="2042610" y="344577"/>
                  </a:cubicBezTo>
                  <a:cubicBezTo>
                    <a:pt x="2025426" y="361761"/>
                    <a:pt x="2002119" y="371415"/>
                    <a:pt x="1977816" y="371415"/>
                  </a:cubicBezTo>
                  <a:lnTo>
                    <a:pt x="91633" y="371415"/>
                  </a:lnTo>
                  <a:cubicBezTo>
                    <a:pt x="67330" y="371415"/>
                    <a:pt x="44023" y="361761"/>
                    <a:pt x="26839" y="344577"/>
                  </a:cubicBezTo>
                  <a:cubicBezTo>
                    <a:pt x="9654" y="327392"/>
                    <a:pt x="0" y="304085"/>
                    <a:pt x="0" y="279782"/>
                  </a:cubicBezTo>
                  <a:lnTo>
                    <a:pt x="0" y="91633"/>
                  </a:lnTo>
                  <a:cubicBezTo>
                    <a:pt x="0" y="67330"/>
                    <a:pt x="9654" y="44023"/>
                    <a:pt x="26839" y="26839"/>
                  </a:cubicBezTo>
                  <a:cubicBezTo>
                    <a:pt x="44023" y="9654"/>
                    <a:pt x="67330" y="0"/>
                    <a:pt x="91633" y="0"/>
                  </a:cubicBezTo>
                  <a:close/>
                </a:path>
              </a:pathLst>
            </a:custGeom>
            <a:solidFill>
              <a:srgbClr val="F0F4D4"/>
            </a:solidFill>
            <a:ln w="28575" cap="rnd">
              <a:solidFill>
                <a:srgbClr val="262829"/>
              </a:solidFill>
              <a:prstDash val="solid"/>
              <a:round/>
            </a:ln>
          </p:spPr>
        </p:sp>
        <p:sp>
          <p:nvSpPr>
            <p:cNvPr name="TextBox 14" id="14"/>
            <p:cNvSpPr txBox="true"/>
            <p:nvPr/>
          </p:nvSpPr>
          <p:spPr>
            <a:xfrm>
              <a:off x="0" y="-47625"/>
              <a:ext cx="2069449" cy="41904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5345959" y="974785"/>
            <a:ext cx="7026160" cy="1809950"/>
          </a:xfrm>
          <a:prstGeom prst="rect">
            <a:avLst/>
          </a:prstGeom>
        </p:spPr>
        <p:txBody>
          <a:bodyPr anchor="t" rtlCol="false" tIns="0" lIns="0" bIns="0" rIns="0">
            <a:spAutoFit/>
          </a:bodyPr>
          <a:lstStyle/>
          <a:p>
            <a:pPr algn="ctr">
              <a:lnSpc>
                <a:spcPts val="14756"/>
              </a:lnSpc>
            </a:pPr>
            <a:r>
              <a:rPr lang="en-US" sz="10540" b="true">
                <a:solidFill>
                  <a:srgbClr val="124B3D"/>
                </a:solidFill>
                <a:latin typeface="TT Bluescreens Bold"/>
                <a:ea typeface="TT Bluescreens Bold"/>
                <a:cs typeface="TT Bluescreens Bold"/>
                <a:sym typeface="TT Bluescreens Bold"/>
              </a:rPr>
              <a:t>Functionality</a:t>
            </a:r>
          </a:p>
        </p:txBody>
      </p:sp>
      <p:sp>
        <p:nvSpPr>
          <p:cNvPr name="Freeform 16" id="16"/>
          <p:cNvSpPr/>
          <p:nvPr/>
        </p:nvSpPr>
        <p:spPr>
          <a:xfrm flipH="false" flipV="false" rot="0">
            <a:off x="16817217" y="3297096"/>
            <a:ext cx="954176" cy="954176"/>
          </a:xfrm>
          <a:custGeom>
            <a:avLst/>
            <a:gdLst/>
            <a:ahLst/>
            <a:cxnLst/>
            <a:rect r="r" b="b" t="t" l="l"/>
            <a:pathLst>
              <a:path h="954176" w="954176">
                <a:moveTo>
                  <a:pt x="0" y="0"/>
                </a:moveTo>
                <a:lnTo>
                  <a:pt x="954176" y="0"/>
                </a:lnTo>
                <a:lnTo>
                  <a:pt x="954176" y="954177"/>
                </a:lnTo>
                <a:lnTo>
                  <a:pt x="0" y="954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8510902" y="158462"/>
            <a:ext cx="1266196" cy="388207"/>
          </a:xfrm>
          <a:prstGeom prst="rect">
            <a:avLst/>
          </a:prstGeom>
        </p:spPr>
        <p:txBody>
          <a:bodyPr anchor="t" rtlCol="false" tIns="0" lIns="0" bIns="0" rIns="0">
            <a:spAutoFit/>
          </a:bodyPr>
          <a:lstStyle/>
          <a:p>
            <a:pPr algn="just">
              <a:lnSpc>
                <a:spcPts val="3277"/>
              </a:lnSpc>
            </a:pPr>
            <a:r>
              <a:rPr lang="en-US" sz="2341">
                <a:solidFill>
                  <a:srgbClr val="262829"/>
                </a:solidFill>
                <a:latin typeface="Noto Sans"/>
                <a:ea typeface="Noto Sans"/>
                <a:cs typeface="Noto Sans"/>
                <a:sym typeface="Noto Sans"/>
              </a:rPr>
              <a:t>Page 05</a:t>
            </a:r>
          </a:p>
        </p:txBody>
      </p:sp>
      <p:sp>
        <p:nvSpPr>
          <p:cNvPr name="TextBox 18" id="18"/>
          <p:cNvSpPr txBox="true"/>
          <p:nvPr/>
        </p:nvSpPr>
        <p:spPr>
          <a:xfrm rot="0">
            <a:off x="1678153" y="4327473"/>
            <a:ext cx="14361771" cy="4434287"/>
          </a:xfrm>
          <a:prstGeom prst="rect">
            <a:avLst/>
          </a:prstGeom>
        </p:spPr>
        <p:txBody>
          <a:bodyPr anchor="t" rtlCol="false" tIns="0" lIns="0" bIns="0" rIns="0">
            <a:spAutoFit/>
          </a:bodyPr>
          <a:lstStyle/>
          <a:p>
            <a:pPr algn="just">
              <a:lnSpc>
                <a:spcPts val="3840"/>
              </a:lnSpc>
            </a:pPr>
            <a:r>
              <a:rPr lang="en-US" b="true" sz="2743" spc="-54">
                <a:solidFill>
                  <a:srgbClr val="262829"/>
                </a:solidFill>
                <a:latin typeface="Noto Sans Bold"/>
                <a:ea typeface="Noto Sans Bold"/>
                <a:cs typeface="Noto Sans Bold"/>
                <a:sym typeface="Noto Sans Bold"/>
              </a:rPr>
              <a:t> 4. Find Farmer</a:t>
            </a:r>
          </a:p>
          <a:p>
            <a:pPr algn="just">
              <a:lnSpc>
                <a:spcPts val="3840"/>
              </a:lnSpc>
            </a:pPr>
            <a:r>
              <a:rPr lang="en-US" b="true" sz="2743" spc="-54">
                <a:solidFill>
                  <a:srgbClr val="262829"/>
                </a:solidFill>
                <a:latin typeface="Noto Sans Bold"/>
                <a:ea typeface="Noto Sans Bold"/>
                <a:cs typeface="Noto Sans Bold"/>
                <a:sym typeface="Noto Sans Bold"/>
              </a:rPr>
              <a:t>Consumers can search for local farmers by location, crop type, and available quantities. This feature helps them discover local produce and make informed choices.</a:t>
            </a:r>
          </a:p>
          <a:p>
            <a:pPr algn="just">
              <a:lnSpc>
                <a:spcPts val="3840"/>
              </a:lnSpc>
            </a:pPr>
          </a:p>
          <a:p>
            <a:pPr algn="just">
              <a:lnSpc>
                <a:spcPts val="3840"/>
              </a:lnSpc>
            </a:pPr>
            <a:r>
              <a:rPr lang="en-US" sz="2743" spc="-54">
                <a:solidFill>
                  <a:srgbClr val="262829"/>
                </a:solidFill>
                <a:latin typeface="Noto Sans"/>
                <a:ea typeface="Noto Sans"/>
                <a:cs typeface="Noto Sans"/>
                <a:sym typeface="Noto Sans"/>
              </a:rPr>
              <a:t> </a:t>
            </a:r>
            <a:r>
              <a:rPr lang="en-US" b="true" sz="2743" spc="-54">
                <a:solidFill>
                  <a:srgbClr val="262829"/>
                </a:solidFill>
                <a:latin typeface="Noto Sans Bold"/>
                <a:ea typeface="Noto Sans Bold"/>
                <a:cs typeface="Noto Sans Bold"/>
                <a:sym typeface="Noto Sans Bold"/>
              </a:rPr>
              <a:t>5</a:t>
            </a:r>
            <a:r>
              <a:rPr lang="en-US" sz="2743" spc="-54">
                <a:solidFill>
                  <a:srgbClr val="262829"/>
                </a:solidFill>
                <a:latin typeface="Noto Sans"/>
                <a:ea typeface="Noto Sans"/>
                <a:cs typeface="Noto Sans"/>
                <a:sym typeface="Noto Sans"/>
              </a:rPr>
              <a:t>. </a:t>
            </a:r>
            <a:r>
              <a:rPr lang="en-US" b="true" sz="2743" spc="-54">
                <a:solidFill>
                  <a:srgbClr val="262829"/>
                </a:solidFill>
                <a:latin typeface="Noto Sans Bold"/>
                <a:ea typeface="Noto Sans Bold"/>
                <a:cs typeface="Noto Sans Bold"/>
                <a:sym typeface="Noto Sans Bold"/>
              </a:rPr>
              <a:t>Find Consumer</a:t>
            </a:r>
          </a:p>
          <a:p>
            <a:pPr algn="just">
              <a:lnSpc>
                <a:spcPts val="3840"/>
              </a:lnSpc>
            </a:pPr>
            <a:r>
              <a:rPr lang="en-US" b="true" sz="2743" spc="-54">
                <a:solidFill>
                  <a:srgbClr val="262829"/>
                </a:solidFill>
                <a:latin typeface="Noto Sans Bold"/>
                <a:ea typeface="Noto Sans Bold"/>
                <a:cs typeface="Noto Sans Bold"/>
                <a:sym typeface="Noto Sans Bold"/>
              </a:rPr>
              <a:t>Farmers can view information about potential consumers interested in their crops. This helps farmers understand what consumers want.</a:t>
            </a:r>
          </a:p>
          <a:p>
            <a:pPr algn="just">
              <a:lnSpc>
                <a:spcPts val="5211"/>
              </a:lnSpc>
            </a:pPr>
          </a:p>
        </p:txBody>
      </p:sp>
      <p:sp>
        <p:nvSpPr>
          <p:cNvPr name="Freeform 19" id="19"/>
          <p:cNvSpPr/>
          <p:nvPr/>
        </p:nvSpPr>
        <p:spPr>
          <a:xfrm flipH="false" flipV="false" rot="0">
            <a:off x="17032010" y="165028"/>
            <a:ext cx="1198840" cy="1257799"/>
          </a:xfrm>
          <a:custGeom>
            <a:avLst/>
            <a:gdLst/>
            <a:ahLst/>
            <a:cxnLst/>
            <a:rect r="r" b="b" t="t" l="l"/>
            <a:pathLst>
              <a:path h="1257799" w="1198840">
                <a:moveTo>
                  <a:pt x="0" y="0"/>
                </a:moveTo>
                <a:lnTo>
                  <a:pt x="1198840" y="0"/>
                </a:lnTo>
                <a:lnTo>
                  <a:pt x="1198840" y="1257800"/>
                </a:lnTo>
                <a:lnTo>
                  <a:pt x="0" y="1257800"/>
                </a:lnTo>
                <a:lnTo>
                  <a:pt x="0" y="0"/>
                </a:lnTo>
                <a:close/>
              </a:path>
            </a:pathLst>
          </a:custGeom>
          <a:blipFill>
            <a:blip r:embed="rId6"/>
            <a:stretch>
              <a:fillRect l="0" t="0" r="0" b="0"/>
            </a:stretch>
          </a:blipFill>
        </p:spPr>
      </p:sp>
      <p:sp>
        <p:nvSpPr>
          <p:cNvPr name="TextBox 20" id="20"/>
          <p:cNvSpPr txBox="true"/>
          <p:nvPr/>
        </p:nvSpPr>
        <p:spPr>
          <a:xfrm rot="0">
            <a:off x="-874831" y="13745"/>
            <a:ext cx="2684054" cy="669442"/>
          </a:xfrm>
          <a:prstGeom prst="rect">
            <a:avLst/>
          </a:prstGeom>
        </p:spPr>
        <p:txBody>
          <a:bodyPr anchor="t" rtlCol="false" tIns="0" lIns="0" bIns="0" rIns="0">
            <a:spAutoFit/>
          </a:bodyPr>
          <a:lstStyle/>
          <a:p>
            <a:pPr algn="r">
              <a:lnSpc>
                <a:spcPts val="5364"/>
              </a:lnSpc>
            </a:pPr>
            <a:r>
              <a:rPr lang="en-US" sz="3831" b="true">
                <a:solidFill>
                  <a:srgbClr val="124B3D"/>
                </a:solidFill>
                <a:latin typeface="TT Bluescreens Bold"/>
                <a:ea typeface="TT Bluescreens Bold"/>
                <a:cs typeface="TT Bluescreens Bold"/>
                <a:sym typeface="TT Bluescreens Bold"/>
              </a:rPr>
              <a:t>AgriWebHub</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grpSp>
        <p:nvGrpSpPr>
          <p:cNvPr name="Group 2" id="2"/>
          <p:cNvGrpSpPr/>
          <p:nvPr/>
        </p:nvGrpSpPr>
        <p:grpSpPr>
          <a:xfrm rot="0">
            <a:off x="-708327" y="-83504"/>
            <a:ext cx="19877457" cy="877432"/>
            <a:chOff x="0" y="0"/>
            <a:chExt cx="5235215" cy="231093"/>
          </a:xfrm>
        </p:grpSpPr>
        <p:sp>
          <p:nvSpPr>
            <p:cNvPr name="Freeform 3" id="3"/>
            <p:cNvSpPr/>
            <p:nvPr/>
          </p:nvSpPr>
          <p:spPr>
            <a:xfrm flipH="false" flipV="false" rot="0">
              <a:off x="0" y="0"/>
              <a:ext cx="5235215" cy="231093"/>
            </a:xfrm>
            <a:custGeom>
              <a:avLst/>
              <a:gdLst/>
              <a:ahLst/>
              <a:cxnLst/>
              <a:rect r="r" b="b" t="t" l="l"/>
              <a:pathLst>
                <a:path h="231093" w="5235215">
                  <a:moveTo>
                    <a:pt x="36222" y="0"/>
                  </a:moveTo>
                  <a:lnTo>
                    <a:pt x="5198993" y="0"/>
                  </a:lnTo>
                  <a:cubicBezTo>
                    <a:pt x="5208600" y="0"/>
                    <a:pt x="5217813" y="3816"/>
                    <a:pt x="5224606" y="10609"/>
                  </a:cubicBezTo>
                  <a:cubicBezTo>
                    <a:pt x="5231399" y="17402"/>
                    <a:pt x="5235215" y="26615"/>
                    <a:pt x="5235215" y="36222"/>
                  </a:cubicBezTo>
                  <a:lnTo>
                    <a:pt x="5235215" y="194871"/>
                  </a:lnTo>
                  <a:cubicBezTo>
                    <a:pt x="5235215" y="204478"/>
                    <a:pt x="5231399" y="213691"/>
                    <a:pt x="5224606" y="220484"/>
                  </a:cubicBezTo>
                  <a:cubicBezTo>
                    <a:pt x="5217813" y="227277"/>
                    <a:pt x="5208600" y="231093"/>
                    <a:pt x="5198993" y="231093"/>
                  </a:cubicBezTo>
                  <a:lnTo>
                    <a:pt x="36222" y="231093"/>
                  </a:lnTo>
                  <a:cubicBezTo>
                    <a:pt x="26615" y="231093"/>
                    <a:pt x="17402" y="227277"/>
                    <a:pt x="10609" y="220484"/>
                  </a:cubicBezTo>
                  <a:cubicBezTo>
                    <a:pt x="3816" y="213691"/>
                    <a:pt x="0" y="204478"/>
                    <a:pt x="0" y="194871"/>
                  </a:cubicBezTo>
                  <a:lnTo>
                    <a:pt x="0" y="36222"/>
                  </a:lnTo>
                  <a:cubicBezTo>
                    <a:pt x="0" y="26615"/>
                    <a:pt x="3816" y="17402"/>
                    <a:pt x="10609" y="10609"/>
                  </a:cubicBezTo>
                  <a:cubicBezTo>
                    <a:pt x="17402" y="3816"/>
                    <a:pt x="26615" y="0"/>
                    <a:pt x="36222" y="0"/>
                  </a:cubicBezTo>
                  <a:close/>
                </a:path>
              </a:pathLst>
            </a:custGeom>
            <a:solidFill>
              <a:srgbClr val="B1D4C7"/>
            </a:solidFill>
            <a:ln w="28575" cap="rnd">
              <a:solidFill>
                <a:srgbClr val="262829"/>
              </a:solidFill>
              <a:prstDash val="solid"/>
              <a:round/>
            </a:ln>
          </p:spPr>
        </p:sp>
        <p:sp>
          <p:nvSpPr>
            <p:cNvPr name="TextBox 4" id="4"/>
            <p:cNvSpPr txBox="true"/>
            <p:nvPr/>
          </p:nvSpPr>
          <p:spPr>
            <a:xfrm>
              <a:off x="0" y="-47625"/>
              <a:ext cx="5235215" cy="27871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932853" y="132533"/>
            <a:ext cx="4422295" cy="517590"/>
            <a:chOff x="0" y="0"/>
            <a:chExt cx="1164720" cy="136320"/>
          </a:xfrm>
        </p:grpSpPr>
        <p:sp>
          <p:nvSpPr>
            <p:cNvPr name="Freeform 6" id="6"/>
            <p:cNvSpPr/>
            <p:nvPr/>
          </p:nvSpPr>
          <p:spPr>
            <a:xfrm flipH="false" flipV="false" rot="0">
              <a:off x="0" y="0"/>
              <a:ext cx="1164720" cy="136320"/>
            </a:xfrm>
            <a:custGeom>
              <a:avLst/>
              <a:gdLst/>
              <a:ahLst/>
              <a:cxnLst/>
              <a:rect r="r" b="b" t="t" l="l"/>
              <a:pathLst>
                <a:path h="136320" w="1164720">
                  <a:moveTo>
                    <a:pt x="68160" y="0"/>
                  </a:moveTo>
                  <a:lnTo>
                    <a:pt x="1096560" y="0"/>
                  </a:lnTo>
                  <a:cubicBezTo>
                    <a:pt x="1134203" y="0"/>
                    <a:pt x="1164720" y="30516"/>
                    <a:pt x="1164720" y="68160"/>
                  </a:cubicBezTo>
                  <a:lnTo>
                    <a:pt x="1164720" y="68160"/>
                  </a:lnTo>
                  <a:cubicBezTo>
                    <a:pt x="1164720" y="105804"/>
                    <a:pt x="1134203" y="136320"/>
                    <a:pt x="1096560" y="136320"/>
                  </a:cubicBezTo>
                  <a:lnTo>
                    <a:pt x="68160" y="136320"/>
                  </a:lnTo>
                  <a:cubicBezTo>
                    <a:pt x="30516" y="136320"/>
                    <a:pt x="0" y="105804"/>
                    <a:pt x="0" y="68160"/>
                  </a:cubicBezTo>
                  <a:lnTo>
                    <a:pt x="0" y="68160"/>
                  </a:lnTo>
                  <a:cubicBezTo>
                    <a:pt x="0" y="30516"/>
                    <a:pt x="30516" y="0"/>
                    <a:pt x="68160" y="0"/>
                  </a:cubicBezTo>
                  <a:close/>
                </a:path>
              </a:pathLst>
            </a:custGeom>
            <a:solidFill>
              <a:srgbClr val="F0F4D4"/>
            </a:solidFill>
            <a:ln w="28575" cap="rnd">
              <a:solidFill>
                <a:srgbClr val="262829"/>
              </a:solidFill>
              <a:prstDash val="solid"/>
              <a:round/>
            </a:ln>
          </p:spPr>
        </p:sp>
        <p:sp>
          <p:nvSpPr>
            <p:cNvPr name="TextBox 7" id="7"/>
            <p:cNvSpPr txBox="true"/>
            <p:nvPr/>
          </p:nvSpPr>
          <p:spPr>
            <a:xfrm>
              <a:off x="0" y="-47625"/>
              <a:ext cx="1164720" cy="18394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124641" y="8857331"/>
            <a:ext cx="19618325" cy="2800666"/>
          </a:xfrm>
          <a:custGeom>
            <a:avLst/>
            <a:gdLst/>
            <a:ahLst/>
            <a:cxnLst/>
            <a:rect r="r" b="b" t="t" l="l"/>
            <a:pathLst>
              <a:path h="2800666" w="19618325">
                <a:moveTo>
                  <a:pt x="0" y="0"/>
                </a:moveTo>
                <a:lnTo>
                  <a:pt x="19618325" y="0"/>
                </a:lnTo>
                <a:lnTo>
                  <a:pt x="19618325" y="2800666"/>
                </a:lnTo>
                <a:lnTo>
                  <a:pt x="0" y="2800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24641" y="2527934"/>
            <a:ext cx="10172005" cy="5625089"/>
            <a:chOff x="0" y="0"/>
            <a:chExt cx="2679047" cy="1481505"/>
          </a:xfrm>
        </p:grpSpPr>
        <p:sp>
          <p:nvSpPr>
            <p:cNvPr name="Freeform 10" id="10"/>
            <p:cNvSpPr/>
            <p:nvPr/>
          </p:nvSpPr>
          <p:spPr>
            <a:xfrm flipH="false" flipV="false" rot="0">
              <a:off x="0" y="0"/>
              <a:ext cx="2679047" cy="1481505"/>
            </a:xfrm>
            <a:custGeom>
              <a:avLst/>
              <a:gdLst/>
              <a:ahLst/>
              <a:cxnLst/>
              <a:rect r="r" b="b" t="t" l="l"/>
              <a:pathLst>
                <a:path h="1481505" w="2679047">
                  <a:moveTo>
                    <a:pt x="70782" y="0"/>
                  </a:moveTo>
                  <a:lnTo>
                    <a:pt x="2608264" y="0"/>
                  </a:lnTo>
                  <a:cubicBezTo>
                    <a:pt x="2627037" y="0"/>
                    <a:pt x="2645041" y="7457"/>
                    <a:pt x="2658315" y="20732"/>
                  </a:cubicBezTo>
                  <a:cubicBezTo>
                    <a:pt x="2671589" y="34006"/>
                    <a:pt x="2679047" y="52010"/>
                    <a:pt x="2679047" y="70782"/>
                  </a:cubicBezTo>
                  <a:lnTo>
                    <a:pt x="2679047" y="1410722"/>
                  </a:lnTo>
                  <a:cubicBezTo>
                    <a:pt x="2679047" y="1429495"/>
                    <a:pt x="2671589" y="1447499"/>
                    <a:pt x="2658315" y="1460773"/>
                  </a:cubicBezTo>
                  <a:cubicBezTo>
                    <a:pt x="2645041" y="1474047"/>
                    <a:pt x="2627037" y="1481505"/>
                    <a:pt x="2608264" y="1481505"/>
                  </a:cubicBezTo>
                  <a:lnTo>
                    <a:pt x="70782" y="1481505"/>
                  </a:lnTo>
                  <a:cubicBezTo>
                    <a:pt x="52010" y="1481505"/>
                    <a:pt x="34006" y="1474047"/>
                    <a:pt x="20732" y="1460773"/>
                  </a:cubicBezTo>
                  <a:cubicBezTo>
                    <a:pt x="7457" y="1447499"/>
                    <a:pt x="0" y="1429495"/>
                    <a:pt x="0" y="1410722"/>
                  </a:cubicBezTo>
                  <a:lnTo>
                    <a:pt x="0" y="70782"/>
                  </a:lnTo>
                  <a:cubicBezTo>
                    <a:pt x="0" y="52010"/>
                    <a:pt x="7457" y="34006"/>
                    <a:pt x="20732" y="20732"/>
                  </a:cubicBezTo>
                  <a:cubicBezTo>
                    <a:pt x="34006" y="7457"/>
                    <a:pt x="52010" y="0"/>
                    <a:pt x="70782" y="0"/>
                  </a:cubicBezTo>
                  <a:close/>
                </a:path>
              </a:pathLst>
            </a:custGeom>
            <a:solidFill>
              <a:srgbClr val="B1D4C7"/>
            </a:solidFill>
            <a:ln w="28575" cap="rnd">
              <a:solidFill>
                <a:srgbClr val="262829"/>
              </a:solidFill>
              <a:prstDash val="solid"/>
              <a:round/>
            </a:ln>
          </p:spPr>
        </p:sp>
        <p:sp>
          <p:nvSpPr>
            <p:cNvPr name="TextBox 11" id="11"/>
            <p:cNvSpPr txBox="true"/>
            <p:nvPr/>
          </p:nvSpPr>
          <p:spPr>
            <a:xfrm>
              <a:off x="0" y="-47625"/>
              <a:ext cx="2679047" cy="152913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230401" y="2527934"/>
            <a:ext cx="10172005" cy="5625089"/>
            <a:chOff x="0" y="0"/>
            <a:chExt cx="2679047" cy="1481505"/>
          </a:xfrm>
        </p:grpSpPr>
        <p:sp>
          <p:nvSpPr>
            <p:cNvPr name="Freeform 13" id="13"/>
            <p:cNvSpPr/>
            <p:nvPr/>
          </p:nvSpPr>
          <p:spPr>
            <a:xfrm flipH="false" flipV="false" rot="0">
              <a:off x="0" y="0"/>
              <a:ext cx="2679047" cy="1481505"/>
            </a:xfrm>
            <a:custGeom>
              <a:avLst/>
              <a:gdLst/>
              <a:ahLst/>
              <a:cxnLst/>
              <a:rect r="r" b="b" t="t" l="l"/>
              <a:pathLst>
                <a:path h="1481505" w="2679047">
                  <a:moveTo>
                    <a:pt x="70782" y="0"/>
                  </a:moveTo>
                  <a:lnTo>
                    <a:pt x="2608264" y="0"/>
                  </a:lnTo>
                  <a:cubicBezTo>
                    <a:pt x="2627037" y="0"/>
                    <a:pt x="2645041" y="7457"/>
                    <a:pt x="2658315" y="20732"/>
                  </a:cubicBezTo>
                  <a:cubicBezTo>
                    <a:pt x="2671589" y="34006"/>
                    <a:pt x="2679047" y="52010"/>
                    <a:pt x="2679047" y="70782"/>
                  </a:cubicBezTo>
                  <a:lnTo>
                    <a:pt x="2679047" y="1410722"/>
                  </a:lnTo>
                  <a:cubicBezTo>
                    <a:pt x="2679047" y="1429495"/>
                    <a:pt x="2671589" y="1447499"/>
                    <a:pt x="2658315" y="1460773"/>
                  </a:cubicBezTo>
                  <a:cubicBezTo>
                    <a:pt x="2645041" y="1474047"/>
                    <a:pt x="2627037" y="1481505"/>
                    <a:pt x="2608264" y="1481505"/>
                  </a:cubicBezTo>
                  <a:lnTo>
                    <a:pt x="70782" y="1481505"/>
                  </a:lnTo>
                  <a:cubicBezTo>
                    <a:pt x="52010" y="1481505"/>
                    <a:pt x="34006" y="1474047"/>
                    <a:pt x="20732" y="1460773"/>
                  </a:cubicBezTo>
                  <a:cubicBezTo>
                    <a:pt x="7457" y="1447499"/>
                    <a:pt x="0" y="1429495"/>
                    <a:pt x="0" y="1410722"/>
                  </a:cubicBezTo>
                  <a:lnTo>
                    <a:pt x="0" y="70782"/>
                  </a:lnTo>
                  <a:cubicBezTo>
                    <a:pt x="0" y="52010"/>
                    <a:pt x="7457" y="34006"/>
                    <a:pt x="20732" y="20732"/>
                  </a:cubicBezTo>
                  <a:cubicBezTo>
                    <a:pt x="34006" y="7457"/>
                    <a:pt x="52010" y="0"/>
                    <a:pt x="70782" y="0"/>
                  </a:cubicBezTo>
                  <a:close/>
                </a:path>
              </a:pathLst>
            </a:custGeom>
            <a:solidFill>
              <a:srgbClr val="B1D4C7"/>
            </a:solidFill>
            <a:ln w="28575" cap="rnd">
              <a:solidFill>
                <a:srgbClr val="262829"/>
              </a:solidFill>
              <a:prstDash val="solid"/>
              <a:round/>
            </a:ln>
          </p:spPr>
        </p:sp>
        <p:sp>
          <p:nvSpPr>
            <p:cNvPr name="TextBox 14" id="14"/>
            <p:cNvSpPr txBox="true"/>
            <p:nvPr/>
          </p:nvSpPr>
          <p:spPr>
            <a:xfrm>
              <a:off x="0" y="-47625"/>
              <a:ext cx="2679047" cy="152913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293061" y="2892170"/>
            <a:ext cx="6081783" cy="835848"/>
            <a:chOff x="0" y="0"/>
            <a:chExt cx="1601787" cy="220141"/>
          </a:xfrm>
        </p:grpSpPr>
        <p:sp>
          <p:nvSpPr>
            <p:cNvPr name="Freeform 16" id="16"/>
            <p:cNvSpPr/>
            <p:nvPr/>
          </p:nvSpPr>
          <p:spPr>
            <a:xfrm flipH="false" flipV="false" rot="0">
              <a:off x="0" y="0"/>
              <a:ext cx="1601787" cy="220141"/>
            </a:xfrm>
            <a:custGeom>
              <a:avLst/>
              <a:gdLst/>
              <a:ahLst/>
              <a:cxnLst/>
              <a:rect r="r" b="b" t="t" l="l"/>
              <a:pathLst>
                <a:path h="220141" w="1601787">
                  <a:moveTo>
                    <a:pt x="110070" y="0"/>
                  </a:moveTo>
                  <a:lnTo>
                    <a:pt x="1491716" y="0"/>
                  </a:lnTo>
                  <a:cubicBezTo>
                    <a:pt x="1520909" y="0"/>
                    <a:pt x="1548905" y="11597"/>
                    <a:pt x="1569548" y="32239"/>
                  </a:cubicBezTo>
                  <a:cubicBezTo>
                    <a:pt x="1590190" y="52881"/>
                    <a:pt x="1601787" y="80878"/>
                    <a:pt x="1601787" y="110070"/>
                  </a:cubicBezTo>
                  <a:lnTo>
                    <a:pt x="1601787" y="110070"/>
                  </a:lnTo>
                  <a:cubicBezTo>
                    <a:pt x="1601787" y="139263"/>
                    <a:pt x="1590190" y="167260"/>
                    <a:pt x="1569548" y="187902"/>
                  </a:cubicBezTo>
                  <a:cubicBezTo>
                    <a:pt x="1548905" y="208544"/>
                    <a:pt x="1520909" y="220141"/>
                    <a:pt x="1491716" y="220141"/>
                  </a:cubicBezTo>
                  <a:lnTo>
                    <a:pt x="110070" y="220141"/>
                  </a:lnTo>
                  <a:cubicBezTo>
                    <a:pt x="80878" y="220141"/>
                    <a:pt x="52881" y="208544"/>
                    <a:pt x="32239" y="187902"/>
                  </a:cubicBezTo>
                  <a:cubicBezTo>
                    <a:pt x="11597" y="167260"/>
                    <a:pt x="0" y="139263"/>
                    <a:pt x="0" y="110070"/>
                  </a:cubicBezTo>
                  <a:lnTo>
                    <a:pt x="0" y="110070"/>
                  </a:lnTo>
                  <a:cubicBezTo>
                    <a:pt x="0" y="80878"/>
                    <a:pt x="11597" y="52881"/>
                    <a:pt x="32239" y="32239"/>
                  </a:cubicBezTo>
                  <a:cubicBezTo>
                    <a:pt x="52881" y="11597"/>
                    <a:pt x="80878" y="0"/>
                    <a:pt x="110070" y="0"/>
                  </a:cubicBezTo>
                  <a:close/>
                </a:path>
              </a:pathLst>
            </a:custGeom>
            <a:solidFill>
              <a:srgbClr val="F0F4D4"/>
            </a:solidFill>
            <a:ln w="28575" cap="rnd">
              <a:solidFill>
                <a:srgbClr val="262829"/>
              </a:solidFill>
              <a:prstDash val="solid"/>
              <a:round/>
            </a:ln>
          </p:spPr>
        </p:sp>
        <p:sp>
          <p:nvSpPr>
            <p:cNvPr name="TextBox 17" id="17"/>
            <p:cNvSpPr txBox="true"/>
            <p:nvPr/>
          </p:nvSpPr>
          <p:spPr>
            <a:xfrm>
              <a:off x="0" y="-47625"/>
              <a:ext cx="1601787" cy="26776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636569" y="2858829"/>
            <a:ext cx="6481577" cy="835848"/>
            <a:chOff x="0" y="0"/>
            <a:chExt cx="1707082" cy="220141"/>
          </a:xfrm>
        </p:grpSpPr>
        <p:sp>
          <p:nvSpPr>
            <p:cNvPr name="Freeform 19" id="19"/>
            <p:cNvSpPr/>
            <p:nvPr/>
          </p:nvSpPr>
          <p:spPr>
            <a:xfrm flipH="false" flipV="false" rot="0">
              <a:off x="0" y="0"/>
              <a:ext cx="1707082" cy="220141"/>
            </a:xfrm>
            <a:custGeom>
              <a:avLst/>
              <a:gdLst/>
              <a:ahLst/>
              <a:cxnLst/>
              <a:rect r="r" b="b" t="t" l="l"/>
              <a:pathLst>
                <a:path h="220141" w="1707082">
                  <a:moveTo>
                    <a:pt x="110070" y="0"/>
                  </a:moveTo>
                  <a:lnTo>
                    <a:pt x="1597012" y="0"/>
                  </a:lnTo>
                  <a:cubicBezTo>
                    <a:pt x="1657802" y="0"/>
                    <a:pt x="1707082" y="49280"/>
                    <a:pt x="1707082" y="110070"/>
                  </a:cubicBezTo>
                  <a:lnTo>
                    <a:pt x="1707082" y="110070"/>
                  </a:lnTo>
                  <a:cubicBezTo>
                    <a:pt x="1707082" y="139263"/>
                    <a:pt x="1695485" y="167260"/>
                    <a:pt x="1674843" y="187902"/>
                  </a:cubicBezTo>
                  <a:cubicBezTo>
                    <a:pt x="1654201" y="208544"/>
                    <a:pt x="1626204" y="220141"/>
                    <a:pt x="1597012" y="220141"/>
                  </a:cubicBezTo>
                  <a:lnTo>
                    <a:pt x="110070" y="220141"/>
                  </a:lnTo>
                  <a:cubicBezTo>
                    <a:pt x="80878" y="220141"/>
                    <a:pt x="52881" y="208544"/>
                    <a:pt x="32239" y="187902"/>
                  </a:cubicBezTo>
                  <a:cubicBezTo>
                    <a:pt x="11597" y="167260"/>
                    <a:pt x="0" y="139263"/>
                    <a:pt x="0" y="110070"/>
                  </a:cubicBezTo>
                  <a:lnTo>
                    <a:pt x="0" y="110070"/>
                  </a:lnTo>
                  <a:cubicBezTo>
                    <a:pt x="0" y="80878"/>
                    <a:pt x="11597" y="52881"/>
                    <a:pt x="32239" y="32239"/>
                  </a:cubicBezTo>
                  <a:cubicBezTo>
                    <a:pt x="52881" y="11597"/>
                    <a:pt x="80878" y="0"/>
                    <a:pt x="110070" y="0"/>
                  </a:cubicBezTo>
                  <a:close/>
                </a:path>
              </a:pathLst>
            </a:custGeom>
            <a:solidFill>
              <a:srgbClr val="F0F4D4"/>
            </a:solidFill>
            <a:ln w="28575" cap="rnd">
              <a:solidFill>
                <a:srgbClr val="262829"/>
              </a:solidFill>
              <a:prstDash val="solid"/>
              <a:round/>
            </a:ln>
          </p:spPr>
        </p:sp>
        <p:sp>
          <p:nvSpPr>
            <p:cNvPr name="TextBox 20" id="20"/>
            <p:cNvSpPr txBox="true"/>
            <p:nvPr/>
          </p:nvSpPr>
          <p:spPr>
            <a:xfrm>
              <a:off x="0" y="-47625"/>
              <a:ext cx="1707082" cy="267766"/>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8510902" y="158462"/>
            <a:ext cx="1266196" cy="388207"/>
          </a:xfrm>
          <a:prstGeom prst="rect">
            <a:avLst/>
          </a:prstGeom>
        </p:spPr>
        <p:txBody>
          <a:bodyPr anchor="t" rtlCol="false" tIns="0" lIns="0" bIns="0" rIns="0">
            <a:spAutoFit/>
          </a:bodyPr>
          <a:lstStyle/>
          <a:p>
            <a:pPr algn="just">
              <a:lnSpc>
                <a:spcPts val="3277"/>
              </a:lnSpc>
            </a:pPr>
            <a:r>
              <a:rPr lang="en-US" sz="2341">
                <a:solidFill>
                  <a:srgbClr val="262829"/>
                </a:solidFill>
                <a:latin typeface="Noto Sans"/>
                <a:ea typeface="Noto Sans"/>
                <a:cs typeface="Noto Sans"/>
                <a:sym typeface="Noto Sans"/>
              </a:rPr>
              <a:t>Page 06</a:t>
            </a:r>
          </a:p>
        </p:txBody>
      </p:sp>
      <p:sp>
        <p:nvSpPr>
          <p:cNvPr name="TextBox 22" id="22"/>
          <p:cNvSpPr txBox="true"/>
          <p:nvPr/>
        </p:nvSpPr>
        <p:spPr>
          <a:xfrm rot="0">
            <a:off x="3657217" y="2957237"/>
            <a:ext cx="4758435" cy="572358"/>
          </a:xfrm>
          <a:prstGeom prst="rect">
            <a:avLst/>
          </a:prstGeom>
        </p:spPr>
        <p:txBody>
          <a:bodyPr anchor="t" rtlCol="false" tIns="0" lIns="0" bIns="0" rIns="0">
            <a:spAutoFit/>
          </a:bodyPr>
          <a:lstStyle/>
          <a:p>
            <a:pPr algn="l">
              <a:lnSpc>
                <a:spcPts val="4677"/>
              </a:lnSpc>
            </a:pPr>
            <a:r>
              <a:rPr lang="en-US" b="true" sz="3341" spc="-66">
                <a:solidFill>
                  <a:srgbClr val="262829"/>
                </a:solidFill>
                <a:latin typeface="Noto Sans Bold"/>
                <a:ea typeface="Noto Sans Bold"/>
                <a:cs typeface="Noto Sans Bold"/>
                <a:sym typeface="Noto Sans Bold"/>
              </a:rPr>
              <a:t>MERITS</a:t>
            </a:r>
          </a:p>
        </p:txBody>
      </p:sp>
      <p:sp>
        <p:nvSpPr>
          <p:cNvPr name="TextBox 23" id="23"/>
          <p:cNvSpPr txBox="true"/>
          <p:nvPr/>
        </p:nvSpPr>
        <p:spPr>
          <a:xfrm rot="0">
            <a:off x="12848673" y="2966762"/>
            <a:ext cx="5645011" cy="529813"/>
          </a:xfrm>
          <a:prstGeom prst="rect">
            <a:avLst/>
          </a:prstGeom>
        </p:spPr>
        <p:txBody>
          <a:bodyPr anchor="t" rtlCol="false" tIns="0" lIns="0" bIns="0" rIns="0">
            <a:spAutoFit/>
          </a:bodyPr>
          <a:lstStyle/>
          <a:p>
            <a:pPr algn="just">
              <a:lnSpc>
                <a:spcPts val="4397"/>
              </a:lnSpc>
            </a:pPr>
            <a:r>
              <a:rPr lang="en-US" b="true" sz="3141" spc="-62">
                <a:solidFill>
                  <a:srgbClr val="262829"/>
                </a:solidFill>
                <a:latin typeface="Noto Sans Bold"/>
                <a:ea typeface="Noto Sans Bold"/>
                <a:cs typeface="Noto Sans Bold"/>
                <a:sym typeface="Noto Sans Bold"/>
              </a:rPr>
              <a:t>DEMERITS</a:t>
            </a:r>
          </a:p>
        </p:txBody>
      </p:sp>
      <p:sp>
        <p:nvSpPr>
          <p:cNvPr name="TextBox 24" id="24"/>
          <p:cNvSpPr txBox="true"/>
          <p:nvPr/>
        </p:nvSpPr>
        <p:spPr>
          <a:xfrm rot="0">
            <a:off x="2191198" y="4090626"/>
            <a:ext cx="7039203" cy="3634235"/>
          </a:xfrm>
          <a:prstGeom prst="rect">
            <a:avLst/>
          </a:prstGeom>
        </p:spPr>
        <p:txBody>
          <a:bodyPr anchor="t" rtlCol="false" tIns="0" lIns="0" bIns="0" rIns="0">
            <a:spAutoFit/>
          </a:bodyPr>
          <a:lstStyle/>
          <a:p>
            <a:pPr algn="l" marL="598234" indent="-299117" lvl="1">
              <a:lnSpc>
                <a:spcPts val="4184"/>
              </a:lnSpc>
              <a:buFont typeface="Arial"/>
              <a:buChar char="•"/>
            </a:pPr>
            <a:r>
              <a:rPr lang="en-US" b="true" sz="2770">
                <a:solidFill>
                  <a:srgbClr val="262829"/>
                </a:solidFill>
                <a:latin typeface="Noto Sans Bold"/>
                <a:ea typeface="Noto Sans Bold"/>
                <a:cs typeface="Noto Sans Bold"/>
                <a:sym typeface="Noto Sans Bold"/>
              </a:rPr>
              <a:t>Informed Choices</a:t>
            </a:r>
          </a:p>
          <a:p>
            <a:pPr algn="l" marL="598234" indent="-299117" lvl="1">
              <a:lnSpc>
                <a:spcPts val="4184"/>
              </a:lnSpc>
              <a:buFont typeface="Arial"/>
              <a:buChar char="•"/>
            </a:pPr>
            <a:r>
              <a:rPr lang="en-US" b="true" sz="2770">
                <a:solidFill>
                  <a:srgbClr val="262829"/>
                </a:solidFill>
                <a:latin typeface="Noto Sans Bold"/>
                <a:ea typeface="Noto Sans Bold"/>
                <a:cs typeface="Noto Sans Bold"/>
                <a:sym typeface="Noto Sans Bold"/>
              </a:rPr>
              <a:t>Market Awareness</a:t>
            </a:r>
          </a:p>
          <a:p>
            <a:pPr algn="l" marL="598234" indent="-299117" lvl="1">
              <a:lnSpc>
                <a:spcPts val="4184"/>
              </a:lnSpc>
              <a:buFont typeface="Arial"/>
              <a:buChar char="•"/>
            </a:pPr>
            <a:r>
              <a:rPr lang="en-US" b="true" sz="2770">
                <a:solidFill>
                  <a:srgbClr val="262829"/>
                </a:solidFill>
                <a:latin typeface="Noto Sans Bold"/>
                <a:ea typeface="Noto Sans Bold"/>
                <a:cs typeface="Noto Sans Bold"/>
                <a:sym typeface="Noto Sans Bold"/>
              </a:rPr>
              <a:t>Empowerment</a:t>
            </a:r>
          </a:p>
          <a:p>
            <a:pPr algn="l" marL="598234" indent="-299117" lvl="1">
              <a:lnSpc>
                <a:spcPts val="4184"/>
              </a:lnSpc>
              <a:buFont typeface="Arial"/>
              <a:buChar char="•"/>
            </a:pPr>
            <a:r>
              <a:rPr lang="en-US" b="true" sz="2770">
                <a:solidFill>
                  <a:srgbClr val="262829"/>
                </a:solidFill>
                <a:latin typeface="Noto Sans Bold"/>
                <a:ea typeface="Noto Sans Bold"/>
                <a:cs typeface="Noto Sans Bold"/>
                <a:sym typeface="Noto Sans Bold"/>
              </a:rPr>
              <a:t>Encourages local buying,</a:t>
            </a:r>
          </a:p>
          <a:p>
            <a:pPr algn="l">
              <a:lnSpc>
                <a:spcPts val="4184"/>
              </a:lnSpc>
            </a:pPr>
            <a:r>
              <a:rPr lang="en-US" sz="2770" b="true">
                <a:solidFill>
                  <a:srgbClr val="262829"/>
                </a:solidFill>
                <a:latin typeface="Noto Sans Bold"/>
                <a:ea typeface="Noto Sans Bold"/>
                <a:cs typeface="Noto Sans Bold"/>
                <a:sym typeface="Noto Sans Bold"/>
              </a:rPr>
              <a:t>      supporting a sustainable </a:t>
            </a:r>
          </a:p>
          <a:p>
            <a:pPr algn="l">
              <a:lnSpc>
                <a:spcPts val="4184"/>
              </a:lnSpc>
            </a:pPr>
            <a:r>
              <a:rPr lang="en-US" sz="2770" b="true">
                <a:solidFill>
                  <a:srgbClr val="262829"/>
                </a:solidFill>
                <a:latin typeface="Noto Sans Bold"/>
                <a:ea typeface="Noto Sans Bold"/>
                <a:cs typeface="Noto Sans Bold"/>
                <a:sym typeface="Noto Sans Bold"/>
              </a:rPr>
              <a:t>      </a:t>
            </a:r>
            <a:r>
              <a:rPr lang="en-US" sz="2770" b="true">
                <a:solidFill>
                  <a:srgbClr val="262829"/>
                </a:solidFill>
                <a:latin typeface="Noto Sans Bold"/>
                <a:ea typeface="Noto Sans Bold"/>
                <a:cs typeface="Noto Sans Bold"/>
                <a:sym typeface="Noto Sans Bold"/>
              </a:rPr>
              <a:t>agricultural system.</a:t>
            </a:r>
          </a:p>
          <a:p>
            <a:pPr algn="l">
              <a:lnSpc>
                <a:spcPts val="4184"/>
              </a:lnSpc>
            </a:pPr>
          </a:p>
        </p:txBody>
      </p:sp>
      <p:sp>
        <p:nvSpPr>
          <p:cNvPr name="TextBox 25" id="25"/>
          <p:cNvSpPr txBox="true"/>
          <p:nvPr/>
        </p:nvSpPr>
        <p:spPr>
          <a:xfrm rot="0">
            <a:off x="11734431" y="4356299"/>
            <a:ext cx="7667976" cy="2348083"/>
          </a:xfrm>
          <a:prstGeom prst="rect">
            <a:avLst/>
          </a:prstGeom>
        </p:spPr>
        <p:txBody>
          <a:bodyPr anchor="t" rtlCol="false" tIns="0" lIns="0" bIns="0" rIns="0">
            <a:spAutoFit/>
          </a:bodyPr>
          <a:lstStyle/>
          <a:p>
            <a:pPr algn="just" marL="570245" indent="-285122" lvl="1">
              <a:lnSpc>
                <a:spcPts val="4780"/>
              </a:lnSpc>
              <a:buFont typeface="Arial"/>
              <a:buChar char="•"/>
            </a:pPr>
            <a:r>
              <a:rPr lang="en-US" b="true" sz="2641">
                <a:solidFill>
                  <a:srgbClr val="262829"/>
                </a:solidFill>
                <a:latin typeface="Noto Sans Bold"/>
                <a:ea typeface="Noto Sans Bold"/>
                <a:cs typeface="Noto Sans Bold"/>
                <a:sym typeface="Noto Sans Bold"/>
              </a:rPr>
              <a:t>No Direct Connections</a:t>
            </a:r>
          </a:p>
          <a:p>
            <a:pPr algn="just" marL="570245" indent="-285122" lvl="1">
              <a:lnSpc>
                <a:spcPts val="4780"/>
              </a:lnSpc>
              <a:buFont typeface="Arial"/>
              <a:buChar char="•"/>
            </a:pPr>
            <a:r>
              <a:rPr lang="en-US" b="true" sz="2641">
                <a:solidFill>
                  <a:srgbClr val="262829"/>
                </a:solidFill>
                <a:latin typeface="Noto Sans Bold"/>
                <a:ea typeface="Noto Sans Bold"/>
                <a:cs typeface="Noto Sans Bold"/>
                <a:sym typeface="Noto Sans Bold"/>
              </a:rPr>
              <a:t>Information Overload</a:t>
            </a:r>
          </a:p>
          <a:p>
            <a:pPr algn="just" marL="570245" indent="-285122" lvl="1">
              <a:lnSpc>
                <a:spcPts val="4780"/>
              </a:lnSpc>
              <a:buFont typeface="Arial"/>
              <a:buChar char="•"/>
            </a:pPr>
            <a:r>
              <a:rPr lang="en-US" b="true" sz="2641">
                <a:solidFill>
                  <a:srgbClr val="262829"/>
                </a:solidFill>
                <a:latin typeface="Noto Sans Bold"/>
                <a:ea typeface="Noto Sans Bold"/>
                <a:cs typeface="Noto Sans Bold"/>
                <a:sym typeface="Noto Sans Bold"/>
              </a:rPr>
              <a:t>Data Privacy Concerns.</a:t>
            </a:r>
          </a:p>
          <a:p>
            <a:pPr algn="just">
              <a:lnSpc>
                <a:spcPts val="4780"/>
              </a:lnSpc>
            </a:pPr>
          </a:p>
        </p:txBody>
      </p:sp>
      <p:sp>
        <p:nvSpPr>
          <p:cNvPr name="Freeform 26" id="26"/>
          <p:cNvSpPr/>
          <p:nvPr/>
        </p:nvSpPr>
        <p:spPr>
          <a:xfrm flipH="false" flipV="false" rot="0">
            <a:off x="680612" y="3138638"/>
            <a:ext cx="286529" cy="276231"/>
          </a:xfrm>
          <a:custGeom>
            <a:avLst/>
            <a:gdLst/>
            <a:ahLst/>
            <a:cxnLst/>
            <a:rect r="r" b="b" t="t" l="l"/>
            <a:pathLst>
              <a:path h="276231" w="286529">
                <a:moveTo>
                  <a:pt x="0" y="0"/>
                </a:moveTo>
                <a:lnTo>
                  <a:pt x="286529" y="0"/>
                </a:lnTo>
                <a:lnTo>
                  <a:pt x="286529" y="276231"/>
                </a:lnTo>
                <a:lnTo>
                  <a:pt x="0" y="276231"/>
                </a:lnTo>
                <a:lnTo>
                  <a:pt x="0" y="0"/>
                </a:lnTo>
                <a:close/>
              </a:path>
            </a:pathLst>
          </a:custGeom>
          <a:blipFill>
            <a:blip r:embed="rId4">
              <a:extLst>
                <a:ext uri="{96DAC541-7B7A-43D3-8B79-37D633B846F1}">
                  <asvg:svgBlip xmlns:asvg="http://schemas.microsoft.com/office/drawing/2016/SVG/main" r:embed="rId5"/>
                </a:ext>
              </a:extLst>
            </a:blip>
            <a:stretch>
              <a:fillRect l="0" t="0" r="-285623" b="0"/>
            </a:stretch>
          </a:blipFill>
        </p:spPr>
      </p:sp>
      <p:sp>
        <p:nvSpPr>
          <p:cNvPr name="Freeform 27" id="27"/>
          <p:cNvSpPr/>
          <p:nvPr/>
        </p:nvSpPr>
        <p:spPr>
          <a:xfrm flipH="false" flipV="false" rot="0">
            <a:off x="7719814" y="3143403"/>
            <a:ext cx="286529" cy="276231"/>
          </a:xfrm>
          <a:custGeom>
            <a:avLst/>
            <a:gdLst/>
            <a:ahLst/>
            <a:cxnLst/>
            <a:rect r="r" b="b" t="t" l="l"/>
            <a:pathLst>
              <a:path h="276231" w="286529">
                <a:moveTo>
                  <a:pt x="0" y="0"/>
                </a:moveTo>
                <a:lnTo>
                  <a:pt x="286530" y="0"/>
                </a:lnTo>
                <a:lnTo>
                  <a:pt x="286530" y="276232"/>
                </a:lnTo>
                <a:lnTo>
                  <a:pt x="0" y="276232"/>
                </a:lnTo>
                <a:lnTo>
                  <a:pt x="0" y="0"/>
                </a:lnTo>
                <a:close/>
              </a:path>
            </a:pathLst>
          </a:custGeom>
          <a:blipFill>
            <a:blip r:embed="rId4">
              <a:extLst>
                <a:ext uri="{96DAC541-7B7A-43D3-8B79-37D633B846F1}">
                  <asvg:svgBlip xmlns:asvg="http://schemas.microsoft.com/office/drawing/2016/SVG/main" r:embed="rId5"/>
                </a:ext>
              </a:extLst>
            </a:blip>
            <a:stretch>
              <a:fillRect l="0" t="0" r="-285623" b="0"/>
            </a:stretch>
          </a:blipFill>
        </p:spPr>
      </p:sp>
      <p:sp>
        <p:nvSpPr>
          <p:cNvPr name="Freeform 28" id="28"/>
          <p:cNvSpPr/>
          <p:nvPr/>
        </p:nvSpPr>
        <p:spPr>
          <a:xfrm flipH="false" flipV="false" rot="0">
            <a:off x="10075206" y="3152928"/>
            <a:ext cx="286529" cy="276231"/>
          </a:xfrm>
          <a:custGeom>
            <a:avLst/>
            <a:gdLst/>
            <a:ahLst/>
            <a:cxnLst/>
            <a:rect r="r" b="b" t="t" l="l"/>
            <a:pathLst>
              <a:path h="276231" w="286529">
                <a:moveTo>
                  <a:pt x="0" y="0"/>
                </a:moveTo>
                <a:lnTo>
                  <a:pt x="286530" y="0"/>
                </a:lnTo>
                <a:lnTo>
                  <a:pt x="286530" y="276232"/>
                </a:lnTo>
                <a:lnTo>
                  <a:pt x="0" y="276232"/>
                </a:lnTo>
                <a:lnTo>
                  <a:pt x="0" y="0"/>
                </a:lnTo>
                <a:close/>
              </a:path>
            </a:pathLst>
          </a:custGeom>
          <a:blipFill>
            <a:blip r:embed="rId4">
              <a:extLst>
                <a:ext uri="{96DAC541-7B7A-43D3-8B79-37D633B846F1}">
                  <asvg:svgBlip xmlns:asvg="http://schemas.microsoft.com/office/drawing/2016/SVG/main" r:embed="rId5"/>
                </a:ext>
              </a:extLst>
            </a:blip>
            <a:stretch>
              <a:fillRect l="0" t="0" r="-285623" b="0"/>
            </a:stretch>
          </a:blipFill>
        </p:spPr>
      </p:sp>
      <p:sp>
        <p:nvSpPr>
          <p:cNvPr name="Freeform 29" id="29"/>
          <p:cNvSpPr/>
          <p:nvPr/>
        </p:nvSpPr>
        <p:spPr>
          <a:xfrm flipH="false" flipV="false" rot="0">
            <a:off x="17380843" y="3143403"/>
            <a:ext cx="286529" cy="276231"/>
          </a:xfrm>
          <a:custGeom>
            <a:avLst/>
            <a:gdLst/>
            <a:ahLst/>
            <a:cxnLst/>
            <a:rect r="r" b="b" t="t" l="l"/>
            <a:pathLst>
              <a:path h="276231" w="286529">
                <a:moveTo>
                  <a:pt x="0" y="0"/>
                </a:moveTo>
                <a:lnTo>
                  <a:pt x="286529" y="0"/>
                </a:lnTo>
                <a:lnTo>
                  <a:pt x="286529" y="276232"/>
                </a:lnTo>
                <a:lnTo>
                  <a:pt x="0" y="276232"/>
                </a:lnTo>
                <a:lnTo>
                  <a:pt x="0" y="0"/>
                </a:lnTo>
                <a:close/>
              </a:path>
            </a:pathLst>
          </a:custGeom>
          <a:blipFill>
            <a:blip r:embed="rId4">
              <a:extLst>
                <a:ext uri="{96DAC541-7B7A-43D3-8B79-37D633B846F1}">
                  <asvg:svgBlip xmlns:asvg="http://schemas.microsoft.com/office/drawing/2016/SVG/main" r:embed="rId5"/>
                </a:ext>
              </a:extLst>
            </a:blip>
            <a:stretch>
              <a:fillRect l="0" t="0" r="-285623" b="0"/>
            </a:stretch>
          </a:blipFill>
        </p:spPr>
      </p:sp>
      <p:sp>
        <p:nvSpPr>
          <p:cNvPr name="Freeform 30" id="30"/>
          <p:cNvSpPr/>
          <p:nvPr/>
        </p:nvSpPr>
        <p:spPr>
          <a:xfrm flipH="false" flipV="false" rot="0">
            <a:off x="17032010" y="165028"/>
            <a:ext cx="1198840" cy="1257799"/>
          </a:xfrm>
          <a:custGeom>
            <a:avLst/>
            <a:gdLst/>
            <a:ahLst/>
            <a:cxnLst/>
            <a:rect r="r" b="b" t="t" l="l"/>
            <a:pathLst>
              <a:path h="1257799" w="1198840">
                <a:moveTo>
                  <a:pt x="0" y="0"/>
                </a:moveTo>
                <a:lnTo>
                  <a:pt x="1198840" y="0"/>
                </a:lnTo>
                <a:lnTo>
                  <a:pt x="1198840" y="1257800"/>
                </a:lnTo>
                <a:lnTo>
                  <a:pt x="0" y="1257800"/>
                </a:lnTo>
                <a:lnTo>
                  <a:pt x="0" y="0"/>
                </a:lnTo>
                <a:close/>
              </a:path>
            </a:pathLst>
          </a:custGeom>
          <a:blipFill>
            <a:blip r:embed="rId6"/>
            <a:stretch>
              <a:fillRect l="0" t="0" r="0" b="0"/>
            </a:stretch>
          </a:blipFill>
        </p:spPr>
      </p:sp>
      <p:sp>
        <p:nvSpPr>
          <p:cNvPr name="TextBox 31" id="31"/>
          <p:cNvSpPr txBox="true"/>
          <p:nvPr/>
        </p:nvSpPr>
        <p:spPr>
          <a:xfrm rot="0">
            <a:off x="-874831" y="13745"/>
            <a:ext cx="2684054" cy="669442"/>
          </a:xfrm>
          <a:prstGeom prst="rect">
            <a:avLst/>
          </a:prstGeom>
        </p:spPr>
        <p:txBody>
          <a:bodyPr anchor="t" rtlCol="false" tIns="0" lIns="0" bIns="0" rIns="0">
            <a:spAutoFit/>
          </a:bodyPr>
          <a:lstStyle/>
          <a:p>
            <a:pPr algn="r">
              <a:lnSpc>
                <a:spcPts val="5364"/>
              </a:lnSpc>
            </a:pPr>
            <a:r>
              <a:rPr lang="en-US" sz="3831" b="true">
                <a:solidFill>
                  <a:srgbClr val="124B3D"/>
                </a:solidFill>
                <a:latin typeface="TT Bluescreens Bold"/>
                <a:ea typeface="TT Bluescreens Bold"/>
                <a:cs typeface="TT Bluescreens Bold"/>
                <a:sym typeface="TT Bluescreens Bold"/>
              </a:rPr>
              <a:t>AgriWebHub</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grpSp>
        <p:nvGrpSpPr>
          <p:cNvPr name="Group 2" id="2"/>
          <p:cNvGrpSpPr/>
          <p:nvPr/>
        </p:nvGrpSpPr>
        <p:grpSpPr>
          <a:xfrm rot="0">
            <a:off x="-708327" y="-83504"/>
            <a:ext cx="19877457" cy="877432"/>
            <a:chOff x="0" y="0"/>
            <a:chExt cx="5235215" cy="231093"/>
          </a:xfrm>
        </p:grpSpPr>
        <p:sp>
          <p:nvSpPr>
            <p:cNvPr name="Freeform 3" id="3"/>
            <p:cNvSpPr/>
            <p:nvPr/>
          </p:nvSpPr>
          <p:spPr>
            <a:xfrm flipH="false" flipV="false" rot="0">
              <a:off x="0" y="0"/>
              <a:ext cx="5235215" cy="231093"/>
            </a:xfrm>
            <a:custGeom>
              <a:avLst/>
              <a:gdLst/>
              <a:ahLst/>
              <a:cxnLst/>
              <a:rect r="r" b="b" t="t" l="l"/>
              <a:pathLst>
                <a:path h="231093" w="5235215">
                  <a:moveTo>
                    <a:pt x="36222" y="0"/>
                  </a:moveTo>
                  <a:lnTo>
                    <a:pt x="5198993" y="0"/>
                  </a:lnTo>
                  <a:cubicBezTo>
                    <a:pt x="5208600" y="0"/>
                    <a:pt x="5217813" y="3816"/>
                    <a:pt x="5224606" y="10609"/>
                  </a:cubicBezTo>
                  <a:cubicBezTo>
                    <a:pt x="5231399" y="17402"/>
                    <a:pt x="5235215" y="26615"/>
                    <a:pt x="5235215" y="36222"/>
                  </a:cubicBezTo>
                  <a:lnTo>
                    <a:pt x="5235215" y="194871"/>
                  </a:lnTo>
                  <a:cubicBezTo>
                    <a:pt x="5235215" y="204478"/>
                    <a:pt x="5231399" y="213691"/>
                    <a:pt x="5224606" y="220484"/>
                  </a:cubicBezTo>
                  <a:cubicBezTo>
                    <a:pt x="5217813" y="227277"/>
                    <a:pt x="5208600" y="231093"/>
                    <a:pt x="5198993" y="231093"/>
                  </a:cubicBezTo>
                  <a:lnTo>
                    <a:pt x="36222" y="231093"/>
                  </a:lnTo>
                  <a:cubicBezTo>
                    <a:pt x="26615" y="231093"/>
                    <a:pt x="17402" y="227277"/>
                    <a:pt x="10609" y="220484"/>
                  </a:cubicBezTo>
                  <a:cubicBezTo>
                    <a:pt x="3816" y="213691"/>
                    <a:pt x="0" y="204478"/>
                    <a:pt x="0" y="194871"/>
                  </a:cubicBezTo>
                  <a:lnTo>
                    <a:pt x="0" y="36222"/>
                  </a:lnTo>
                  <a:cubicBezTo>
                    <a:pt x="0" y="26615"/>
                    <a:pt x="3816" y="17402"/>
                    <a:pt x="10609" y="10609"/>
                  </a:cubicBezTo>
                  <a:cubicBezTo>
                    <a:pt x="17402" y="3816"/>
                    <a:pt x="26615" y="0"/>
                    <a:pt x="36222" y="0"/>
                  </a:cubicBezTo>
                  <a:close/>
                </a:path>
              </a:pathLst>
            </a:custGeom>
            <a:solidFill>
              <a:srgbClr val="B1D4C7"/>
            </a:solidFill>
            <a:ln w="28575" cap="rnd">
              <a:solidFill>
                <a:srgbClr val="262829"/>
              </a:solidFill>
              <a:prstDash val="solid"/>
              <a:round/>
            </a:ln>
          </p:spPr>
        </p:sp>
        <p:sp>
          <p:nvSpPr>
            <p:cNvPr name="TextBox 4" id="4"/>
            <p:cNvSpPr txBox="true"/>
            <p:nvPr/>
          </p:nvSpPr>
          <p:spPr>
            <a:xfrm>
              <a:off x="0" y="-47625"/>
              <a:ext cx="5235215" cy="27871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932853" y="132533"/>
            <a:ext cx="4422295" cy="517590"/>
            <a:chOff x="0" y="0"/>
            <a:chExt cx="1164720" cy="136320"/>
          </a:xfrm>
        </p:grpSpPr>
        <p:sp>
          <p:nvSpPr>
            <p:cNvPr name="Freeform 6" id="6"/>
            <p:cNvSpPr/>
            <p:nvPr/>
          </p:nvSpPr>
          <p:spPr>
            <a:xfrm flipH="false" flipV="false" rot="0">
              <a:off x="0" y="0"/>
              <a:ext cx="1164720" cy="136320"/>
            </a:xfrm>
            <a:custGeom>
              <a:avLst/>
              <a:gdLst/>
              <a:ahLst/>
              <a:cxnLst/>
              <a:rect r="r" b="b" t="t" l="l"/>
              <a:pathLst>
                <a:path h="136320" w="1164720">
                  <a:moveTo>
                    <a:pt x="68160" y="0"/>
                  </a:moveTo>
                  <a:lnTo>
                    <a:pt x="1096560" y="0"/>
                  </a:lnTo>
                  <a:cubicBezTo>
                    <a:pt x="1134203" y="0"/>
                    <a:pt x="1164720" y="30516"/>
                    <a:pt x="1164720" y="68160"/>
                  </a:cubicBezTo>
                  <a:lnTo>
                    <a:pt x="1164720" y="68160"/>
                  </a:lnTo>
                  <a:cubicBezTo>
                    <a:pt x="1164720" y="105804"/>
                    <a:pt x="1134203" y="136320"/>
                    <a:pt x="1096560" y="136320"/>
                  </a:cubicBezTo>
                  <a:lnTo>
                    <a:pt x="68160" y="136320"/>
                  </a:lnTo>
                  <a:cubicBezTo>
                    <a:pt x="30516" y="136320"/>
                    <a:pt x="0" y="105804"/>
                    <a:pt x="0" y="68160"/>
                  </a:cubicBezTo>
                  <a:lnTo>
                    <a:pt x="0" y="68160"/>
                  </a:lnTo>
                  <a:cubicBezTo>
                    <a:pt x="0" y="30516"/>
                    <a:pt x="30516" y="0"/>
                    <a:pt x="68160" y="0"/>
                  </a:cubicBezTo>
                  <a:close/>
                </a:path>
              </a:pathLst>
            </a:custGeom>
            <a:solidFill>
              <a:srgbClr val="F0F4D4"/>
            </a:solidFill>
            <a:ln w="28575" cap="rnd">
              <a:solidFill>
                <a:srgbClr val="262829"/>
              </a:solidFill>
              <a:prstDash val="solid"/>
              <a:round/>
            </a:ln>
          </p:spPr>
        </p:sp>
        <p:sp>
          <p:nvSpPr>
            <p:cNvPr name="TextBox 7" id="7"/>
            <p:cNvSpPr txBox="true"/>
            <p:nvPr/>
          </p:nvSpPr>
          <p:spPr>
            <a:xfrm>
              <a:off x="0" y="-47625"/>
              <a:ext cx="1164720" cy="18394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944626" y="3644164"/>
            <a:ext cx="7660967" cy="5625089"/>
            <a:chOff x="0" y="0"/>
            <a:chExt cx="2017703" cy="1481505"/>
          </a:xfrm>
        </p:grpSpPr>
        <p:sp>
          <p:nvSpPr>
            <p:cNvPr name="Freeform 9" id="9"/>
            <p:cNvSpPr/>
            <p:nvPr/>
          </p:nvSpPr>
          <p:spPr>
            <a:xfrm flipH="false" flipV="false" rot="0">
              <a:off x="0" y="0"/>
              <a:ext cx="2017703" cy="1481505"/>
            </a:xfrm>
            <a:custGeom>
              <a:avLst/>
              <a:gdLst/>
              <a:ahLst/>
              <a:cxnLst/>
              <a:rect r="r" b="b" t="t" l="l"/>
              <a:pathLst>
                <a:path h="1481505" w="2017703">
                  <a:moveTo>
                    <a:pt x="93983" y="0"/>
                  </a:moveTo>
                  <a:lnTo>
                    <a:pt x="1923721" y="0"/>
                  </a:lnTo>
                  <a:cubicBezTo>
                    <a:pt x="1948646" y="0"/>
                    <a:pt x="1972551" y="9902"/>
                    <a:pt x="1990177" y="27527"/>
                  </a:cubicBezTo>
                  <a:cubicBezTo>
                    <a:pt x="2007802" y="45152"/>
                    <a:pt x="2017703" y="69057"/>
                    <a:pt x="2017703" y="93983"/>
                  </a:cubicBezTo>
                  <a:lnTo>
                    <a:pt x="2017703" y="1387522"/>
                  </a:lnTo>
                  <a:cubicBezTo>
                    <a:pt x="2017703" y="1412448"/>
                    <a:pt x="2007802" y="1436353"/>
                    <a:pt x="1990177" y="1453978"/>
                  </a:cubicBezTo>
                  <a:cubicBezTo>
                    <a:pt x="1972551" y="1471603"/>
                    <a:pt x="1948646" y="1481505"/>
                    <a:pt x="1923721" y="1481505"/>
                  </a:cubicBezTo>
                  <a:lnTo>
                    <a:pt x="93983" y="1481505"/>
                  </a:lnTo>
                  <a:cubicBezTo>
                    <a:pt x="69057" y="1481505"/>
                    <a:pt x="45152" y="1471603"/>
                    <a:pt x="27527" y="1453978"/>
                  </a:cubicBezTo>
                  <a:cubicBezTo>
                    <a:pt x="9902" y="1436353"/>
                    <a:pt x="0" y="1412448"/>
                    <a:pt x="0" y="1387522"/>
                  </a:cubicBezTo>
                  <a:lnTo>
                    <a:pt x="0" y="93983"/>
                  </a:lnTo>
                  <a:cubicBezTo>
                    <a:pt x="0" y="69057"/>
                    <a:pt x="9902" y="45152"/>
                    <a:pt x="27527" y="27527"/>
                  </a:cubicBezTo>
                  <a:cubicBezTo>
                    <a:pt x="45152" y="9902"/>
                    <a:pt x="69057" y="0"/>
                    <a:pt x="93983" y="0"/>
                  </a:cubicBezTo>
                  <a:close/>
                </a:path>
              </a:pathLst>
            </a:custGeom>
            <a:solidFill>
              <a:srgbClr val="B1D4C7"/>
            </a:solidFill>
            <a:ln w="28575" cap="rnd">
              <a:solidFill>
                <a:srgbClr val="262829"/>
              </a:solidFill>
              <a:prstDash val="solid"/>
              <a:round/>
            </a:ln>
          </p:spPr>
        </p:sp>
        <p:sp>
          <p:nvSpPr>
            <p:cNvPr name="TextBox 10" id="10"/>
            <p:cNvSpPr txBox="true"/>
            <p:nvPr/>
          </p:nvSpPr>
          <p:spPr>
            <a:xfrm>
              <a:off x="0" y="-47625"/>
              <a:ext cx="2017703" cy="152913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9343027" y="3110083"/>
            <a:ext cx="8864165" cy="8864165"/>
          </a:xfrm>
          <a:custGeom>
            <a:avLst/>
            <a:gdLst/>
            <a:ahLst/>
            <a:cxnLst/>
            <a:rect r="r" b="b" t="t" l="l"/>
            <a:pathLst>
              <a:path h="8864165" w="8864165">
                <a:moveTo>
                  <a:pt x="0" y="0"/>
                </a:moveTo>
                <a:lnTo>
                  <a:pt x="8864165" y="0"/>
                </a:lnTo>
                <a:lnTo>
                  <a:pt x="8864165" y="8864166"/>
                </a:lnTo>
                <a:lnTo>
                  <a:pt x="0" y="88641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106907" y="4006708"/>
            <a:ext cx="6026029" cy="4963941"/>
          </a:xfrm>
          <a:custGeom>
            <a:avLst/>
            <a:gdLst/>
            <a:ahLst/>
            <a:cxnLst/>
            <a:rect r="r" b="b" t="t" l="l"/>
            <a:pathLst>
              <a:path h="4963941" w="6026029">
                <a:moveTo>
                  <a:pt x="0" y="0"/>
                </a:moveTo>
                <a:lnTo>
                  <a:pt x="6026028" y="0"/>
                </a:lnTo>
                <a:lnTo>
                  <a:pt x="6026028" y="4963941"/>
                </a:lnTo>
                <a:lnTo>
                  <a:pt x="0" y="49639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8510902" y="853329"/>
            <a:ext cx="7916273" cy="2529739"/>
          </a:xfrm>
          <a:prstGeom prst="rect">
            <a:avLst/>
          </a:prstGeom>
        </p:spPr>
        <p:txBody>
          <a:bodyPr anchor="t" rtlCol="false" tIns="0" lIns="0" bIns="0" rIns="0">
            <a:spAutoFit/>
          </a:bodyPr>
          <a:lstStyle/>
          <a:p>
            <a:pPr algn="r">
              <a:lnSpc>
                <a:spcPts val="20690"/>
              </a:lnSpc>
            </a:pPr>
            <a:r>
              <a:rPr lang="en-US" sz="14778" b="true">
                <a:solidFill>
                  <a:srgbClr val="124B3D"/>
                </a:solidFill>
                <a:latin typeface="TT Bluescreens Bold"/>
                <a:ea typeface="TT Bluescreens Bold"/>
                <a:cs typeface="TT Bluescreens Bold"/>
                <a:sym typeface="TT Bluescreens Bold"/>
              </a:rPr>
              <a:t>Future Scope</a:t>
            </a:r>
          </a:p>
        </p:txBody>
      </p:sp>
      <p:grpSp>
        <p:nvGrpSpPr>
          <p:cNvPr name="Group 14" id="14"/>
          <p:cNvGrpSpPr/>
          <p:nvPr/>
        </p:nvGrpSpPr>
        <p:grpSpPr>
          <a:xfrm rot="0">
            <a:off x="822111" y="1959100"/>
            <a:ext cx="8682513" cy="7310153"/>
            <a:chOff x="0" y="0"/>
            <a:chExt cx="2286752" cy="1925308"/>
          </a:xfrm>
        </p:grpSpPr>
        <p:sp>
          <p:nvSpPr>
            <p:cNvPr name="Freeform 15" id="15"/>
            <p:cNvSpPr/>
            <p:nvPr/>
          </p:nvSpPr>
          <p:spPr>
            <a:xfrm flipH="false" flipV="false" rot="0">
              <a:off x="0" y="0"/>
              <a:ext cx="2286752" cy="1925308"/>
            </a:xfrm>
            <a:custGeom>
              <a:avLst/>
              <a:gdLst/>
              <a:ahLst/>
              <a:cxnLst/>
              <a:rect r="r" b="b" t="t" l="l"/>
              <a:pathLst>
                <a:path h="1925308" w="2286752">
                  <a:moveTo>
                    <a:pt x="82925" y="0"/>
                  </a:moveTo>
                  <a:lnTo>
                    <a:pt x="2203827" y="0"/>
                  </a:lnTo>
                  <a:cubicBezTo>
                    <a:pt x="2249625" y="0"/>
                    <a:pt x="2286752" y="37127"/>
                    <a:pt x="2286752" y="82925"/>
                  </a:cubicBezTo>
                  <a:lnTo>
                    <a:pt x="2286752" y="1842383"/>
                  </a:lnTo>
                  <a:cubicBezTo>
                    <a:pt x="2286752" y="1888181"/>
                    <a:pt x="2249625" y="1925308"/>
                    <a:pt x="2203827" y="1925308"/>
                  </a:cubicBezTo>
                  <a:lnTo>
                    <a:pt x="82925" y="1925308"/>
                  </a:lnTo>
                  <a:cubicBezTo>
                    <a:pt x="37127" y="1925308"/>
                    <a:pt x="0" y="1888181"/>
                    <a:pt x="0" y="1842383"/>
                  </a:cubicBezTo>
                  <a:lnTo>
                    <a:pt x="0" y="82925"/>
                  </a:lnTo>
                  <a:cubicBezTo>
                    <a:pt x="0" y="37127"/>
                    <a:pt x="37127" y="0"/>
                    <a:pt x="82925" y="0"/>
                  </a:cubicBezTo>
                  <a:close/>
                </a:path>
              </a:pathLst>
            </a:custGeom>
            <a:solidFill>
              <a:srgbClr val="000000">
                <a:alpha val="0"/>
              </a:srgbClr>
            </a:solidFill>
            <a:ln w="28575" cap="rnd">
              <a:solidFill>
                <a:srgbClr val="262829"/>
              </a:solidFill>
              <a:prstDash val="solid"/>
              <a:round/>
            </a:ln>
          </p:spPr>
        </p:sp>
        <p:sp>
          <p:nvSpPr>
            <p:cNvPr name="TextBox 16" id="16"/>
            <p:cNvSpPr txBox="true"/>
            <p:nvPr/>
          </p:nvSpPr>
          <p:spPr>
            <a:xfrm>
              <a:off x="0" y="-47625"/>
              <a:ext cx="2286752" cy="1972933"/>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28700" y="1427236"/>
            <a:ext cx="3699513" cy="1101827"/>
            <a:chOff x="0" y="0"/>
            <a:chExt cx="974357" cy="290193"/>
          </a:xfrm>
        </p:grpSpPr>
        <p:sp>
          <p:nvSpPr>
            <p:cNvPr name="Freeform 18" id="18"/>
            <p:cNvSpPr/>
            <p:nvPr/>
          </p:nvSpPr>
          <p:spPr>
            <a:xfrm flipH="false" flipV="false" rot="0">
              <a:off x="0" y="0"/>
              <a:ext cx="974357" cy="290193"/>
            </a:xfrm>
            <a:custGeom>
              <a:avLst/>
              <a:gdLst/>
              <a:ahLst/>
              <a:cxnLst/>
              <a:rect r="r" b="b" t="t" l="l"/>
              <a:pathLst>
                <a:path h="290193" w="974357">
                  <a:moveTo>
                    <a:pt x="145097" y="0"/>
                  </a:moveTo>
                  <a:lnTo>
                    <a:pt x="829261" y="0"/>
                  </a:lnTo>
                  <a:cubicBezTo>
                    <a:pt x="867743" y="0"/>
                    <a:pt x="904649" y="15287"/>
                    <a:pt x="931860" y="42498"/>
                  </a:cubicBezTo>
                  <a:cubicBezTo>
                    <a:pt x="959070" y="69709"/>
                    <a:pt x="974357" y="106615"/>
                    <a:pt x="974357" y="145097"/>
                  </a:cubicBezTo>
                  <a:lnTo>
                    <a:pt x="974357" y="145097"/>
                  </a:lnTo>
                  <a:cubicBezTo>
                    <a:pt x="974357" y="183579"/>
                    <a:pt x="959070" y="220484"/>
                    <a:pt x="931860" y="247695"/>
                  </a:cubicBezTo>
                  <a:cubicBezTo>
                    <a:pt x="904649" y="274906"/>
                    <a:pt x="867743" y="290193"/>
                    <a:pt x="829261" y="290193"/>
                  </a:cubicBezTo>
                  <a:lnTo>
                    <a:pt x="145097" y="290193"/>
                  </a:lnTo>
                  <a:cubicBezTo>
                    <a:pt x="106615" y="290193"/>
                    <a:pt x="69709" y="274906"/>
                    <a:pt x="42498" y="247695"/>
                  </a:cubicBezTo>
                  <a:cubicBezTo>
                    <a:pt x="15287" y="220484"/>
                    <a:pt x="0" y="183579"/>
                    <a:pt x="0" y="145097"/>
                  </a:cubicBezTo>
                  <a:lnTo>
                    <a:pt x="0" y="145097"/>
                  </a:lnTo>
                  <a:cubicBezTo>
                    <a:pt x="0" y="106615"/>
                    <a:pt x="15287" y="69709"/>
                    <a:pt x="42498" y="42498"/>
                  </a:cubicBezTo>
                  <a:cubicBezTo>
                    <a:pt x="69709" y="15287"/>
                    <a:pt x="106615" y="0"/>
                    <a:pt x="145097" y="0"/>
                  </a:cubicBezTo>
                  <a:close/>
                </a:path>
              </a:pathLst>
            </a:custGeom>
            <a:solidFill>
              <a:srgbClr val="B1D4C7"/>
            </a:solidFill>
            <a:ln w="28575" cap="rnd">
              <a:solidFill>
                <a:srgbClr val="262829"/>
              </a:solidFill>
              <a:prstDash val="solid"/>
              <a:round/>
            </a:ln>
          </p:spPr>
        </p:sp>
        <p:sp>
          <p:nvSpPr>
            <p:cNvPr name="TextBox 19" id="19"/>
            <p:cNvSpPr txBox="true"/>
            <p:nvPr/>
          </p:nvSpPr>
          <p:spPr>
            <a:xfrm>
              <a:off x="0" y="-47625"/>
              <a:ext cx="974357" cy="337818"/>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6066470" y="4006708"/>
            <a:ext cx="762984" cy="764896"/>
          </a:xfrm>
          <a:custGeom>
            <a:avLst/>
            <a:gdLst/>
            <a:ahLst/>
            <a:cxnLst/>
            <a:rect r="r" b="b" t="t" l="l"/>
            <a:pathLst>
              <a:path h="764896" w="762984">
                <a:moveTo>
                  <a:pt x="0" y="0"/>
                </a:moveTo>
                <a:lnTo>
                  <a:pt x="762984" y="0"/>
                </a:lnTo>
                <a:lnTo>
                  <a:pt x="762984" y="764896"/>
                </a:lnTo>
                <a:lnTo>
                  <a:pt x="0" y="764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10546990" y="8114714"/>
            <a:ext cx="559916" cy="561320"/>
          </a:xfrm>
          <a:custGeom>
            <a:avLst/>
            <a:gdLst/>
            <a:ahLst/>
            <a:cxnLst/>
            <a:rect r="r" b="b" t="t" l="l"/>
            <a:pathLst>
              <a:path h="561320" w="559916">
                <a:moveTo>
                  <a:pt x="0" y="0"/>
                </a:moveTo>
                <a:lnTo>
                  <a:pt x="559917" y="0"/>
                </a:lnTo>
                <a:lnTo>
                  <a:pt x="559917" y="561319"/>
                </a:lnTo>
                <a:lnTo>
                  <a:pt x="0" y="5613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4397664" y="1638075"/>
            <a:ext cx="622999" cy="622999"/>
          </a:xfrm>
          <a:custGeom>
            <a:avLst/>
            <a:gdLst/>
            <a:ahLst/>
            <a:cxnLst/>
            <a:rect r="r" b="b" t="t" l="l"/>
            <a:pathLst>
              <a:path h="622999" w="622999">
                <a:moveTo>
                  <a:pt x="0" y="0"/>
                </a:moveTo>
                <a:lnTo>
                  <a:pt x="622999" y="0"/>
                </a:lnTo>
                <a:lnTo>
                  <a:pt x="622999" y="622999"/>
                </a:lnTo>
                <a:lnTo>
                  <a:pt x="0" y="6229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301569" y="8970649"/>
            <a:ext cx="1549053" cy="1512263"/>
          </a:xfrm>
          <a:custGeom>
            <a:avLst/>
            <a:gdLst/>
            <a:ahLst/>
            <a:cxnLst/>
            <a:rect r="r" b="b" t="t" l="l"/>
            <a:pathLst>
              <a:path h="1512263" w="1549053">
                <a:moveTo>
                  <a:pt x="0" y="0"/>
                </a:moveTo>
                <a:lnTo>
                  <a:pt x="1549053" y="0"/>
                </a:lnTo>
                <a:lnTo>
                  <a:pt x="1549053" y="1512263"/>
                </a:lnTo>
                <a:lnTo>
                  <a:pt x="0" y="15122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4" id="24"/>
          <p:cNvSpPr txBox="true"/>
          <p:nvPr/>
        </p:nvSpPr>
        <p:spPr>
          <a:xfrm rot="0">
            <a:off x="8510902" y="158462"/>
            <a:ext cx="1266196" cy="388207"/>
          </a:xfrm>
          <a:prstGeom prst="rect">
            <a:avLst/>
          </a:prstGeom>
        </p:spPr>
        <p:txBody>
          <a:bodyPr anchor="t" rtlCol="false" tIns="0" lIns="0" bIns="0" rIns="0">
            <a:spAutoFit/>
          </a:bodyPr>
          <a:lstStyle/>
          <a:p>
            <a:pPr algn="just">
              <a:lnSpc>
                <a:spcPts val="3277"/>
              </a:lnSpc>
            </a:pPr>
            <a:r>
              <a:rPr lang="en-US" sz="2341">
                <a:solidFill>
                  <a:srgbClr val="262829"/>
                </a:solidFill>
                <a:latin typeface="Noto Sans"/>
                <a:ea typeface="Noto Sans"/>
                <a:cs typeface="Noto Sans"/>
                <a:sym typeface="Noto Sans"/>
              </a:rPr>
              <a:t>Page 07</a:t>
            </a:r>
          </a:p>
        </p:txBody>
      </p:sp>
      <p:sp>
        <p:nvSpPr>
          <p:cNvPr name="TextBox 25" id="25"/>
          <p:cNvSpPr txBox="true"/>
          <p:nvPr/>
        </p:nvSpPr>
        <p:spPr>
          <a:xfrm rot="0">
            <a:off x="1681289" y="1703401"/>
            <a:ext cx="2867760" cy="463772"/>
          </a:xfrm>
          <a:prstGeom prst="rect">
            <a:avLst/>
          </a:prstGeom>
        </p:spPr>
        <p:txBody>
          <a:bodyPr anchor="t" rtlCol="false" tIns="0" lIns="0" bIns="0" rIns="0">
            <a:spAutoFit/>
          </a:bodyPr>
          <a:lstStyle/>
          <a:p>
            <a:pPr algn="just">
              <a:lnSpc>
                <a:spcPts val="3837"/>
              </a:lnSpc>
            </a:pPr>
            <a:r>
              <a:rPr lang="en-US" b="true" sz="2741" spc="-54">
                <a:solidFill>
                  <a:srgbClr val="262829"/>
                </a:solidFill>
                <a:latin typeface="Noto Sans Bold"/>
                <a:ea typeface="Noto Sans Bold"/>
                <a:cs typeface="Noto Sans Bold"/>
                <a:sym typeface="Noto Sans Bold"/>
              </a:rPr>
              <a:t>FUTURE SCOPE</a:t>
            </a:r>
          </a:p>
        </p:txBody>
      </p:sp>
      <p:sp>
        <p:nvSpPr>
          <p:cNvPr name="TextBox 26" id="26"/>
          <p:cNvSpPr txBox="true"/>
          <p:nvPr/>
        </p:nvSpPr>
        <p:spPr>
          <a:xfrm rot="0">
            <a:off x="1329379" y="3301264"/>
            <a:ext cx="7667976" cy="5305602"/>
          </a:xfrm>
          <a:prstGeom prst="rect">
            <a:avLst/>
          </a:prstGeom>
        </p:spPr>
        <p:txBody>
          <a:bodyPr anchor="t" rtlCol="false" tIns="0" lIns="0" bIns="0" rIns="0">
            <a:spAutoFit/>
          </a:bodyPr>
          <a:lstStyle/>
          <a:p>
            <a:pPr algn="just" marL="613424" indent="-306712" lvl="1">
              <a:lnSpc>
                <a:spcPts val="7103"/>
              </a:lnSpc>
              <a:buAutoNum type="arabicPeriod" startAt="1"/>
            </a:pPr>
            <a:r>
              <a:rPr lang="en-US" sz="2841">
                <a:solidFill>
                  <a:srgbClr val="262829"/>
                </a:solidFill>
                <a:latin typeface="Noto Sans"/>
                <a:ea typeface="Noto Sans"/>
                <a:cs typeface="Noto Sans"/>
                <a:sym typeface="Noto Sans"/>
              </a:rPr>
              <a:t>Login Signup Functionalities</a:t>
            </a:r>
          </a:p>
          <a:p>
            <a:pPr algn="just" marL="613424" indent="-306712" lvl="1">
              <a:lnSpc>
                <a:spcPts val="7103"/>
              </a:lnSpc>
              <a:buAutoNum type="arabicPeriod" startAt="1"/>
            </a:pPr>
            <a:r>
              <a:rPr lang="en-US" sz="2841">
                <a:solidFill>
                  <a:srgbClr val="262829"/>
                </a:solidFill>
                <a:latin typeface="Noto Sans"/>
                <a:ea typeface="Noto Sans"/>
                <a:cs typeface="Noto Sans"/>
                <a:sym typeface="Noto Sans"/>
              </a:rPr>
              <a:t>E commerce Platform</a:t>
            </a:r>
          </a:p>
          <a:p>
            <a:pPr algn="just" marL="613424" indent="-306712" lvl="1">
              <a:lnSpc>
                <a:spcPts val="7103"/>
              </a:lnSpc>
              <a:buAutoNum type="arabicPeriod" startAt="1"/>
            </a:pPr>
            <a:r>
              <a:rPr lang="en-US" sz="2841">
                <a:solidFill>
                  <a:srgbClr val="262829"/>
                </a:solidFill>
                <a:latin typeface="Noto Sans"/>
                <a:ea typeface="Noto Sans"/>
                <a:cs typeface="Noto Sans"/>
                <a:sym typeface="Noto Sans"/>
              </a:rPr>
              <a:t>Social Media Platform</a:t>
            </a:r>
          </a:p>
          <a:p>
            <a:pPr algn="just" marL="613424" indent="-306712" lvl="1">
              <a:lnSpc>
                <a:spcPts val="7103"/>
              </a:lnSpc>
              <a:buAutoNum type="arabicPeriod" startAt="1"/>
            </a:pPr>
            <a:r>
              <a:rPr lang="en-US" sz="2841">
                <a:solidFill>
                  <a:srgbClr val="262829"/>
                </a:solidFill>
                <a:latin typeface="Noto Sans"/>
                <a:ea typeface="Noto Sans"/>
                <a:cs typeface="Noto Sans"/>
                <a:sym typeface="Noto Sans"/>
              </a:rPr>
              <a:t>Prediction Platform</a:t>
            </a:r>
          </a:p>
          <a:p>
            <a:pPr algn="just" marL="613424" indent="-306712" lvl="1">
              <a:lnSpc>
                <a:spcPts val="7103"/>
              </a:lnSpc>
              <a:buAutoNum type="arabicPeriod" startAt="1"/>
            </a:pPr>
            <a:r>
              <a:rPr lang="en-US" sz="2841">
                <a:solidFill>
                  <a:srgbClr val="262829"/>
                </a:solidFill>
                <a:latin typeface="Noto Sans"/>
                <a:ea typeface="Noto Sans"/>
                <a:cs typeface="Noto Sans"/>
                <a:sym typeface="Noto Sans"/>
              </a:rPr>
              <a:t>Additional Services</a:t>
            </a:r>
          </a:p>
          <a:p>
            <a:pPr algn="just">
              <a:lnSpc>
                <a:spcPts val="7603"/>
              </a:lnSpc>
            </a:pPr>
          </a:p>
        </p:txBody>
      </p:sp>
      <p:sp>
        <p:nvSpPr>
          <p:cNvPr name="Freeform 27" id="27"/>
          <p:cNvSpPr/>
          <p:nvPr/>
        </p:nvSpPr>
        <p:spPr>
          <a:xfrm flipH="false" flipV="true" rot="-5327175">
            <a:off x="16828003" y="3135985"/>
            <a:ext cx="1041084" cy="1016358"/>
          </a:xfrm>
          <a:custGeom>
            <a:avLst/>
            <a:gdLst/>
            <a:ahLst/>
            <a:cxnLst/>
            <a:rect r="r" b="b" t="t" l="l"/>
            <a:pathLst>
              <a:path h="1016358" w="1041084">
                <a:moveTo>
                  <a:pt x="0" y="1016358"/>
                </a:moveTo>
                <a:lnTo>
                  <a:pt x="1041084" y="1016358"/>
                </a:lnTo>
                <a:lnTo>
                  <a:pt x="1041084" y="0"/>
                </a:lnTo>
                <a:lnTo>
                  <a:pt x="0" y="0"/>
                </a:lnTo>
                <a:lnTo>
                  <a:pt x="0" y="1016358"/>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17032010" y="165028"/>
            <a:ext cx="1198840" cy="1257799"/>
          </a:xfrm>
          <a:custGeom>
            <a:avLst/>
            <a:gdLst/>
            <a:ahLst/>
            <a:cxnLst/>
            <a:rect r="r" b="b" t="t" l="l"/>
            <a:pathLst>
              <a:path h="1257799" w="1198840">
                <a:moveTo>
                  <a:pt x="0" y="0"/>
                </a:moveTo>
                <a:lnTo>
                  <a:pt x="1198840" y="0"/>
                </a:lnTo>
                <a:lnTo>
                  <a:pt x="1198840" y="1257800"/>
                </a:lnTo>
                <a:lnTo>
                  <a:pt x="0" y="1257800"/>
                </a:lnTo>
                <a:lnTo>
                  <a:pt x="0" y="0"/>
                </a:lnTo>
                <a:close/>
              </a:path>
            </a:pathLst>
          </a:custGeom>
          <a:blipFill>
            <a:blip r:embed="rId12"/>
            <a:stretch>
              <a:fillRect l="0" t="0" r="0" b="0"/>
            </a:stretch>
          </a:blipFill>
        </p:spPr>
      </p:sp>
      <p:sp>
        <p:nvSpPr>
          <p:cNvPr name="TextBox 29" id="29"/>
          <p:cNvSpPr txBox="true"/>
          <p:nvPr/>
        </p:nvSpPr>
        <p:spPr>
          <a:xfrm rot="0">
            <a:off x="-874831" y="13745"/>
            <a:ext cx="2684054" cy="669442"/>
          </a:xfrm>
          <a:prstGeom prst="rect">
            <a:avLst/>
          </a:prstGeom>
        </p:spPr>
        <p:txBody>
          <a:bodyPr anchor="t" rtlCol="false" tIns="0" lIns="0" bIns="0" rIns="0">
            <a:spAutoFit/>
          </a:bodyPr>
          <a:lstStyle/>
          <a:p>
            <a:pPr algn="r">
              <a:lnSpc>
                <a:spcPts val="5364"/>
              </a:lnSpc>
            </a:pPr>
            <a:r>
              <a:rPr lang="en-US" sz="3831" b="true">
                <a:solidFill>
                  <a:srgbClr val="124B3D"/>
                </a:solidFill>
                <a:latin typeface="TT Bluescreens Bold"/>
                <a:ea typeface="TT Bluescreens Bold"/>
                <a:cs typeface="TT Bluescreens Bold"/>
                <a:sym typeface="TT Bluescreens Bold"/>
              </a:rPr>
              <a:t>AgriWebHub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grpSp>
        <p:nvGrpSpPr>
          <p:cNvPr name="Group 2" id="2"/>
          <p:cNvGrpSpPr/>
          <p:nvPr/>
        </p:nvGrpSpPr>
        <p:grpSpPr>
          <a:xfrm rot="0">
            <a:off x="-2020645" y="4314008"/>
            <a:ext cx="12748440" cy="8091166"/>
            <a:chOff x="0" y="0"/>
            <a:chExt cx="10005060" cy="6350000"/>
          </a:xfrm>
        </p:grpSpPr>
        <p:sp>
          <p:nvSpPr>
            <p:cNvPr name="Freeform 3" id="3"/>
            <p:cNvSpPr/>
            <p:nvPr/>
          </p:nvSpPr>
          <p:spPr>
            <a:xfrm flipH="false" flipV="false" rot="0">
              <a:off x="0" y="0"/>
              <a:ext cx="10005060" cy="6350000"/>
            </a:xfrm>
            <a:custGeom>
              <a:avLst/>
              <a:gdLst/>
              <a:ahLst/>
              <a:cxnLst/>
              <a:rect r="r" b="b" t="t" l="l"/>
              <a:pathLst>
                <a:path h="6350000" w="10005060">
                  <a:moveTo>
                    <a:pt x="7377430" y="80010"/>
                  </a:moveTo>
                  <a:cubicBezTo>
                    <a:pt x="7377430" y="80010"/>
                    <a:pt x="6350000" y="0"/>
                    <a:pt x="5002530" y="0"/>
                  </a:cubicBezTo>
                  <a:cubicBezTo>
                    <a:pt x="3655060" y="0"/>
                    <a:pt x="2627630" y="80010"/>
                    <a:pt x="2627630" y="80010"/>
                  </a:cubicBezTo>
                  <a:cubicBezTo>
                    <a:pt x="1176020" y="80010"/>
                    <a:pt x="0" y="1257300"/>
                    <a:pt x="0" y="2707640"/>
                  </a:cubicBezTo>
                  <a:lnTo>
                    <a:pt x="0" y="3134360"/>
                  </a:lnTo>
                  <a:lnTo>
                    <a:pt x="0" y="3214370"/>
                  </a:lnTo>
                  <a:lnTo>
                    <a:pt x="0" y="3641090"/>
                  </a:lnTo>
                  <a:cubicBezTo>
                    <a:pt x="0" y="5092700"/>
                    <a:pt x="1176020" y="6269990"/>
                    <a:pt x="2627630" y="6269990"/>
                  </a:cubicBezTo>
                  <a:cubicBezTo>
                    <a:pt x="2627630" y="6269990"/>
                    <a:pt x="3655060" y="6350000"/>
                    <a:pt x="5002530" y="6350000"/>
                  </a:cubicBezTo>
                  <a:cubicBezTo>
                    <a:pt x="6350000" y="6350000"/>
                    <a:pt x="7377430" y="6269990"/>
                    <a:pt x="7377430" y="6269990"/>
                  </a:cubicBezTo>
                  <a:cubicBezTo>
                    <a:pt x="8829040" y="6269990"/>
                    <a:pt x="10005060" y="5093970"/>
                    <a:pt x="10005060" y="3642360"/>
                  </a:cubicBezTo>
                  <a:lnTo>
                    <a:pt x="10005060" y="3215640"/>
                  </a:lnTo>
                  <a:lnTo>
                    <a:pt x="10005060" y="3135630"/>
                  </a:lnTo>
                  <a:lnTo>
                    <a:pt x="10005060" y="2708910"/>
                  </a:lnTo>
                  <a:cubicBezTo>
                    <a:pt x="10005060" y="1257300"/>
                    <a:pt x="8829040" y="80010"/>
                    <a:pt x="7377430" y="80010"/>
                  </a:cubicBezTo>
                  <a:close/>
                </a:path>
              </a:pathLst>
            </a:custGeom>
            <a:solidFill>
              <a:srgbClr val="262829"/>
            </a:solidFill>
            <a:ln w="12700">
              <a:solidFill>
                <a:srgbClr val="000000"/>
              </a:solidFill>
            </a:ln>
          </p:spPr>
        </p:sp>
      </p:grpSp>
      <p:sp>
        <p:nvSpPr>
          <p:cNvPr name="Freeform 4" id="4"/>
          <p:cNvSpPr/>
          <p:nvPr/>
        </p:nvSpPr>
        <p:spPr>
          <a:xfrm flipH="false" flipV="false" rot="2814316">
            <a:off x="9539104" y="3891878"/>
            <a:ext cx="1995948" cy="2460337"/>
          </a:xfrm>
          <a:custGeom>
            <a:avLst/>
            <a:gdLst/>
            <a:ahLst/>
            <a:cxnLst/>
            <a:rect r="r" b="b" t="t" l="l"/>
            <a:pathLst>
              <a:path h="2460337" w="1995948">
                <a:moveTo>
                  <a:pt x="0" y="0"/>
                </a:moveTo>
                <a:lnTo>
                  <a:pt x="1995948" y="0"/>
                </a:lnTo>
                <a:lnTo>
                  <a:pt x="1995948" y="2460337"/>
                </a:lnTo>
                <a:lnTo>
                  <a:pt x="0" y="24603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2392573" y="4478747"/>
            <a:ext cx="12688410" cy="8053066"/>
            <a:chOff x="0" y="0"/>
            <a:chExt cx="10005060" cy="6350000"/>
          </a:xfrm>
        </p:grpSpPr>
        <p:sp>
          <p:nvSpPr>
            <p:cNvPr name="Freeform 6" id="6"/>
            <p:cNvSpPr/>
            <p:nvPr/>
          </p:nvSpPr>
          <p:spPr>
            <a:xfrm flipH="false" flipV="false" rot="0">
              <a:off x="0" y="0"/>
              <a:ext cx="10005060" cy="6350000"/>
            </a:xfrm>
            <a:custGeom>
              <a:avLst/>
              <a:gdLst/>
              <a:ahLst/>
              <a:cxnLst/>
              <a:rect r="r" b="b" t="t" l="l"/>
              <a:pathLst>
                <a:path h="6350000" w="10005060">
                  <a:moveTo>
                    <a:pt x="7377430" y="80010"/>
                  </a:moveTo>
                  <a:cubicBezTo>
                    <a:pt x="7377430" y="80010"/>
                    <a:pt x="6350000" y="0"/>
                    <a:pt x="5002530" y="0"/>
                  </a:cubicBezTo>
                  <a:cubicBezTo>
                    <a:pt x="3655060" y="0"/>
                    <a:pt x="2627630" y="80010"/>
                    <a:pt x="2627630" y="80010"/>
                  </a:cubicBezTo>
                  <a:cubicBezTo>
                    <a:pt x="1176020" y="80010"/>
                    <a:pt x="0" y="1257300"/>
                    <a:pt x="0" y="2707640"/>
                  </a:cubicBezTo>
                  <a:lnTo>
                    <a:pt x="0" y="3134360"/>
                  </a:lnTo>
                  <a:lnTo>
                    <a:pt x="0" y="3214370"/>
                  </a:lnTo>
                  <a:lnTo>
                    <a:pt x="0" y="3641090"/>
                  </a:lnTo>
                  <a:cubicBezTo>
                    <a:pt x="0" y="5092700"/>
                    <a:pt x="1176020" y="6269990"/>
                    <a:pt x="2627630" y="6269990"/>
                  </a:cubicBezTo>
                  <a:cubicBezTo>
                    <a:pt x="2627630" y="6269990"/>
                    <a:pt x="3655060" y="6350000"/>
                    <a:pt x="5002530" y="6350000"/>
                  </a:cubicBezTo>
                  <a:cubicBezTo>
                    <a:pt x="6350000" y="6350000"/>
                    <a:pt x="7377430" y="6269990"/>
                    <a:pt x="7377430" y="6269990"/>
                  </a:cubicBezTo>
                  <a:cubicBezTo>
                    <a:pt x="8829040" y="6269990"/>
                    <a:pt x="10005060" y="5093970"/>
                    <a:pt x="10005060" y="3642360"/>
                  </a:cubicBezTo>
                  <a:lnTo>
                    <a:pt x="10005060" y="3215640"/>
                  </a:lnTo>
                  <a:lnTo>
                    <a:pt x="10005060" y="3135630"/>
                  </a:lnTo>
                  <a:lnTo>
                    <a:pt x="10005060" y="2708910"/>
                  </a:lnTo>
                  <a:cubicBezTo>
                    <a:pt x="10005060" y="1257300"/>
                    <a:pt x="8829040" y="80010"/>
                    <a:pt x="7377430" y="80010"/>
                  </a:cubicBezTo>
                  <a:close/>
                </a:path>
              </a:pathLst>
            </a:custGeom>
            <a:blipFill>
              <a:blip r:embed="rId4"/>
              <a:stretch>
                <a:fillRect l="0" t="-2519" r="0" b="-2519"/>
              </a:stretch>
            </a:blipFill>
          </p:spPr>
        </p:sp>
      </p:grpSp>
      <p:sp>
        <p:nvSpPr>
          <p:cNvPr name="Freeform 7" id="7"/>
          <p:cNvSpPr/>
          <p:nvPr/>
        </p:nvSpPr>
        <p:spPr>
          <a:xfrm flipH="false" flipV="false" rot="0">
            <a:off x="13333765" y="3552841"/>
            <a:ext cx="2575370" cy="2702028"/>
          </a:xfrm>
          <a:custGeom>
            <a:avLst/>
            <a:gdLst/>
            <a:ahLst/>
            <a:cxnLst/>
            <a:rect r="r" b="b" t="t" l="l"/>
            <a:pathLst>
              <a:path h="2702028" w="2575370">
                <a:moveTo>
                  <a:pt x="0" y="0"/>
                </a:moveTo>
                <a:lnTo>
                  <a:pt x="2575371" y="0"/>
                </a:lnTo>
                <a:lnTo>
                  <a:pt x="2575371" y="2702028"/>
                </a:lnTo>
                <a:lnTo>
                  <a:pt x="0" y="2702028"/>
                </a:lnTo>
                <a:lnTo>
                  <a:pt x="0" y="0"/>
                </a:lnTo>
                <a:close/>
              </a:path>
            </a:pathLst>
          </a:custGeom>
          <a:blipFill>
            <a:blip r:embed="rId5"/>
            <a:stretch>
              <a:fillRect l="0" t="0" r="0" b="0"/>
            </a:stretch>
          </a:blipFill>
        </p:spPr>
      </p:sp>
      <p:sp>
        <p:nvSpPr>
          <p:cNvPr name="TextBox 8" id="8"/>
          <p:cNvSpPr txBox="true"/>
          <p:nvPr/>
        </p:nvSpPr>
        <p:spPr>
          <a:xfrm rot="0">
            <a:off x="-4782819" y="-128180"/>
            <a:ext cx="13926819" cy="3419273"/>
          </a:xfrm>
          <a:prstGeom prst="rect">
            <a:avLst/>
          </a:prstGeom>
        </p:spPr>
        <p:txBody>
          <a:bodyPr anchor="t" rtlCol="false" tIns="0" lIns="0" bIns="0" rIns="0">
            <a:spAutoFit/>
          </a:bodyPr>
          <a:lstStyle/>
          <a:p>
            <a:pPr algn="r">
              <a:lnSpc>
                <a:spcPts val="27836"/>
              </a:lnSpc>
            </a:pPr>
            <a:r>
              <a:rPr lang="en-US" sz="19882" b="true">
                <a:solidFill>
                  <a:srgbClr val="124B3D"/>
                </a:solidFill>
                <a:latin typeface="TT Bluescreens Bold"/>
                <a:ea typeface="TT Bluescreens Bold"/>
                <a:cs typeface="TT Bluescreens Bold"/>
                <a:sym typeface="TT Bluescreens Bold"/>
              </a:rPr>
              <a:t>AgriWebHub</a:t>
            </a:r>
          </a:p>
        </p:txBody>
      </p:sp>
      <p:sp>
        <p:nvSpPr>
          <p:cNvPr name="TextBox 9" id="9"/>
          <p:cNvSpPr txBox="true"/>
          <p:nvPr/>
        </p:nvSpPr>
        <p:spPr>
          <a:xfrm rot="0">
            <a:off x="249329" y="2808183"/>
            <a:ext cx="10046508" cy="1336918"/>
          </a:xfrm>
          <a:prstGeom prst="rect">
            <a:avLst/>
          </a:prstGeom>
        </p:spPr>
        <p:txBody>
          <a:bodyPr anchor="t" rtlCol="false" tIns="0" lIns="0" bIns="0" rIns="0">
            <a:spAutoFit/>
          </a:bodyPr>
          <a:lstStyle/>
          <a:p>
            <a:pPr algn="r">
              <a:lnSpc>
                <a:spcPts val="10938"/>
              </a:lnSpc>
            </a:pPr>
            <a:r>
              <a:rPr lang="en-US" sz="7812">
                <a:solidFill>
                  <a:srgbClr val="262829"/>
                </a:solidFill>
                <a:latin typeface="TT Bluescreens"/>
                <a:ea typeface="TT Bluescreens"/>
                <a:cs typeface="TT Bluescreens"/>
                <a:sym typeface="TT Bluescreens"/>
              </a:rPr>
              <a:t>A BRIDGE BETWEEN FARMER AND CONSUMER</a:t>
            </a:r>
          </a:p>
        </p:txBody>
      </p:sp>
      <p:sp>
        <p:nvSpPr>
          <p:cNvPr name="TextBox 10" id="10"/>
          <p:cNvSpPr txBox="true"/>
          <p:nvPr/>
        </p:nvSpPr>
        <p:spPr>
          <a:xfrm rot="0">
            <a:off x="3951632" y="6500751"/>
            <a:ext cx="12250949" cy="1634929"/>
          </a:xfrm>
          <a:prstGeom prst="rect">
            <a:avLst/>
          </a:prstGeom>
        </p:spPr>
        <p:txBody>
          <a:bodyPr anchor="t" rtlCol="false" tIns="0" lIns="0" bIns="0" rIns="0">
            <a:spAutoFit/>
          </a:bodyPr>
          <a:lstStyle/>
          <a:p>
            <a:pPr algn="r">
              <a:lnSpc>
                <a:spcPts val="13338"/>
              </a:lnSpc>
            </a:pPr>
            <a:r>
              <a:rPr lang="en-US" sz="9527">
                <a:solidFill>
                  <a:srgbClr val="262829"/>
                </a:solidFill>
                <a:latin typeface="TT Bluescreens"/>
                <a:ea typeface="TT Bluescreens"/>
                <a:cs typeface="TT Bluescreens"/>
                <a:sym typeface="TT Bluescreens"/>
              </a:rPr>
              <a:t>THANK YOU</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4D4"/>
        </a:solidFill>
      </p:bgPr>
    </p:bg>
    <p:spTree>
      <p:nvGrpSpPr>
        <p:cNvPr id="1" name=""/>
        <p:cNvGrpSpPr/>
        <p:nvPr/>
      </p:nvGrpSpPr>
      <p:grpSpPr>
        <a:xfrm>
          <a:off x="0" y="0"/>
          <a:ext cx="0" cy="0"/>
          <a:chOff x="0" y="0"/>
          <a:chExt cx="0" cy="0"/>
        </a:xfrm>
      </p:grpSpPr>
      <p:sp>
        <p:nvSpPr>
          <p:cNvPr name="Freeform 2" id="2"/>
          <p:cNvSpPr/>
          <p:nvPr/>
        </p:nvSpPr>
        <p:spPr>
          <a:xfrm flipH="false" flipV="false" rot="0">
            <a:off x="9312297" y="742238"/>
            <a:ext cx="1429697" cy="1762338"/>
          </a:xfrm>
          <a:custGeom>
            <a:avLst/>
            <a:gdLst/>
            <a:ahLst/>
            <a:cxnLst/>
            <a:rect r="r" b="b" t="t" l="l"/>
            <a:pathLst>
              <a:path h="1762338" w="1429697">
                <a:moveTo>
                  <a:pt x="0" y="0"/>
                </a:moveTo>
                <a:lnTo>
                  <a:pt x="1429696" y="0"/>
                </a:lnTo>
                <a:lnTo>
                  <a:pt x="1429696" y="1762338"/>
                </a:lnTo>
                <a:lnTo>
                  <a:pt x="0" y="1762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83733" y="262345"/>
            <a:ext cx="1835062" cy="1925311"/>
          </a:xfrm>
          <a:custGeom>
            <a:avLst/>
            <a:gdLst/>
            <a:ahLst/>
            <a:cxnLst/>
            <a:rect r="r" b="b" t="t" l="l"/>
            <a:pathLst>
              <a:path h="1925311" w="1835062">
                <a:moveTo>
                  <a:pt x="0" y="0"/>
                </a:moveTo>
                <a:lnTo>
                  <a:pt x="1835062" y="0"/>
                </a:lnTo>
                <a:lnTo>
                  <a:pt x="1835062" y="1925311"/>
                </a:lnTo>
                <a:lnTo>
                  <a:pt x="0" y="1925311"/>
                </a:lnTo>
                <a:lnTo>
                  <a:pt x="0" y="0"/>
                </a:lnTo>
                <a:close/>
              </a:path>
            </a:pathLst>
          </a:custGeom>
          <a:blipFill>
            <a:blip r:embed="rId4"/>
            <a:stretch>
              <a:fillRect l="0" t="0" r="0" b="0"/>
            </a:stretch>
          </a:blipFill>
        </p:spPr>
      </p:sp>
      <p:sp>
        <p:nvSpPr>
          <p:cNvPr name="Freeform 4" id="4"/>
          <p:cNvSpPr/>
          <p:nvPr/>
        </p:nvSpPr>
        <p:spPr>
          <a:xfrm flipH="false" flipV="false" rot="0">
            <a:off x="31285" y="-32236"/>
            <a:ext cx="18256715" cy="10236592"/>
          </a:xfrm>
          <a:custGeom>
            <a:avLst/>
            <a:gdLst/>
            <a:ahLst/>
            <a:cxnLst/>
            <a:rect r="r" b="b" t="t" l="l"/>
            <a:pathLst>
              <a:path h="10236592" w="18256715">
                <a:moveTo>
                  <a:pt x="0" y="0"/>
                </a:moveTo>
                <a:lnTo>
                  <a:pt x="18256715" y="0"/>
                </a:lnTo>
                <a:lnTo>
                  <a:pt x="18256715" y="10236593"/>
                </a:lnTo>
                <a:lnTo>
                  <a:pt x="0" y="10236593"/>
                </a:lnTo>
                <a:lnTo>
                  <a:pt x="0" y="0"/>
                </a:lnTo>
                <a:close/>
              </a:path>
            </a:pathLst>
          </a:custGeom>
          <a:blipFill>
            <a:blip r:embed="rId5"/>
            <a:stretch>
              <a:fillRect l="0" t="0" r="0" b="0"/>
            </a:stretch>
          </a:blipFill>
        </p:spPr>
      </p:sp>
      <p:sp>
        <p:nvSpPr>
          <p:cNvPr name="TextBox 5" id="5"/>
          <p:cNvSpPr txBox="true"/>
          <p:nvPr/>
        </p:nvSpPr>
        <p:spPr>
          <a:xfrm rot="0">
            <a:off x="-4782819" y="-128180"/>
            <a:ext cx="13926819" cy="3419273"/>
          </a:xfrm>
          <a:prstGeom prst="rect">
            <a:avLst/>
          </a:prstGeom>
        </p:spPr>
        <p:txBody>
          <a:bodyPr anchor="t" rtlCol="false" tIns="0" lIns="0" bIns="0" rIns="0">
            <a:spAutoFit/>
          </a:bodyPr>
          <a:lstStyle/>
          <a:p>
            <a:pPr algn="r">
              <a:lnSpc>
                <a:spcPts val="27836"/>
              </a:lnSpc>
            </a:pPr>
            <a:r>
              <a:rPr lang="en-US" sz="19882" b="true">
                <a:solidFill>
                  <a:srgbClr val="124B3D"/>
                </a:solidFill>
                <a:latin typeface="TT Bluescreens Bold"/>
                <a:ea typeface="TT Bluescreens Bold"/>
                <a:cs typeface="TT Bluescreens Bold"/>
                <a:sym typeface="TT Bluescreens Bold"/>
              </a:rPr>
              <a:t>AgriWebHub</a:t>
            </a:r>
          </a:p>
        </p:txBody>
      </p:sp>
      <p:sp>
        <p:nvSpPr>
          <p:cNvPr name="TextBox 6" id="6"/>
          <p:cNvSpPr txBox="true"/>
          <p:nvPr/>
        </p:nvSpPr>
        <p:spPr>
          <a:xfrm rot="0">
            <a:off x="249329" y="2808183"/>
            <a:ext cx="10046508" cy="1336918"/>
          </a:xfrm>
          <a:prstGeom prst="rect">
            <a:avLst/>
          </a:prstGeom>
        </p:spPr>
        <p:txBody>
          <a:bodyPr anchor="t" rtlCol="false" tIns="0" lIns="0" bIns="0" rIns="0">
            <a:spAutoFit/>
          </a:bodyPr>
          <a:lstStyle/>
          <a:p>
            <a:pPr algn="r">
              <a:lnSpc>
                <a:spcPts val="10938"/>
              </a:lnSpc>
            </a:pPr>
            <a:r>
              <a:rPr lang="en-US" sz="7812">
                <a:solidFill>
                  <a:srgbClr val="262829"/>
                </a:solidFill>
                <a:latin typeface="TT Bluescreens"/>
                <a:ea typeface="TT Bluescreens"/>
                <a:cs typeface="TT Bluescreens"/>
                <a:sym typeface="TT Bluescreens"/>
              </a:rPr>
              <a:t>A BRIDGE BETWEEN FARMER AND CONSUMER</a:t>
            </a:r>
          </a:p>
        </p:txBody>
      </p:sp>
      <p:sp>
        <p:nvSpPr>
          <p:cNvPr name="Freeform 7" id="7"/>
          <p:cNvSpPr/>
          <p:nvPr/>
        </p:nvSpPr>
        <p:spPr>
          <a:xfrm flipH="false" flipV="false" rot="0">
            <a:off x="16951964" y="262345"/>
            <a:ext cx="1166830" cy="1224216"/>
          </a:xfrm>
          <a:custGeom>
            <a:avLst/>
            <a:gdLst/>
            <a:ahLst/>
            <a:cxnLst/>
            <a:rect r="r" b="b" t="t" l="l"/>
            <a:pathLst>
              <a:path h="1224216" w="1166830">
                <a:moveTo>
                  <a:pt x="0" y="0"/>
                </a:moveTo>
                <a:lnTo>
                  <a:pt x="1166831" y="0"/>
                </a:lnTo>
                <a:lnTo>
                  <a:pt x="1166831" y="1224216"/>
                </a:lnTo>
                <a:lnTo>
                  <a:pt x="0" y="1224216"/>
                </a:lnTo>
                <a:lnTo>
                  <a:pt x="0" y="0"/>
                </a:lnTo>
                <a:close/>
              </a:path>
            </a:pathLst>
          </a:custGeom>
          <a:blipFill>
            <a:blip r:embed="rId4"/>
            <a:stretch>
              <a:fillRect l="0" t="0" r="0" b="0"/>
            </a:stretch>
          </a:blipFill>
        </p:spPr>
      </p:sp>
      <p:sp>
        <p:nvSpPr>
          <p:cNvPr name="TextBox 8" id="8"/>
          <p:cNvSpPr txBox="true"/>
          <p:nvPr/>
        </p:nvSpPr>
        <p:spPr>
          <a:xfrm rot="0">
            <a:off x="-3665145" y="3992700"/>
            <a:ext cx="10046508" cy="1336918"/>
          </a:xfrm>
          <a:prstGeom prst="rect">
            <a:avLst/>
          </a:prstGeom>
        </p:spPr>
        <p:txBody>
          <a:bodyPr anchor="t" rtlCol="false" tIns="0" lIns="0" bIns="0" rIns="0">
            <a:spAutoFit/>
          </a:bodyPr>
          <a:lstStyle/>
          <a:p>
            <a:pPr algn="r">
              <a:lnSpc>
                <a:spcPts val="10938"/>
              </a:lnSpc>
            </a:pPr>
            <a:r>
              <a:rPr lang="en-US" sz="7812">
                <a:solidFill>
                  <a:srgbClr val="262829"/>
                </a:solidFill>
                <a:latin typeface="TT Bluescreens"/>
                <a:ea typeface="TT Bluescreens"/>
                <a:cs typeface="TT Bluescreens"/>
                <a:sym typeface="TT Bluescree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DAGBGLGYrIM</dc:identifier>
  <dcterms:modified xsi:type="dcterms:W3CDTF">2011-08-01T06:04:30Z</dcterms:modified>
  <cp:revision>1</cp:revision>
  <dc:title>Agr</dc:title>
</cp:coreProperties>
</file>